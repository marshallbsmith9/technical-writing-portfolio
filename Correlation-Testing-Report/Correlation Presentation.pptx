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975"/>
    <p:restoredTop sz="39357"/>
  </p:normalViewPr>
  <p:slideViewPr>
    <p:cSldViewPr snapToGrid="0">
      <p:cViewPr varScale="1">
        <p:scale>
          <a:sx n="40" d="100"/>
          <a:sy n="40" d="100"/>
        </p:scale>
        <p:origin x="3488" y="184"/>
      </p:cViewPr>
      <p:guideLst/>
    </p:cSldViewPr>
  </p:slideViewPr>
  <p:outlineViewPr>
    <p:cViewPr>
      <p:scale>
        <a:sx n="33" d="100"/>
        <a:sy n="33" d="100"/>
      </p:scale>
      <p:origin x="0" y="0"/>
    </p:cViewPr>
  </p:outlineViewPr>
  <p:notesTextViewPr>
    <p:cViewPr>
      <p:scale>
        <a:sx n="1" d="1"/>
        <a:sy n="1" d="1"/>
      </p:scale>
      <p:origin x="0" y="-2464"/>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34D1D2-D118-8E4C-9B8C-B6EE4497FAAC}" type="datetimeFigureOut">
              <a:rPr lang="en-US" smtClean="0"/>
              <a:t>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F5A755-B519-B142-8B54-0B714434C258}" type="slidenum">
              <a:rPr lang="en-US" smtClean="0"/>
              <a:t>‹#›</a:t>
            </a:fld>
            <a:endParaRPr lang="en-US"/>
          </a:p>
        </p:txBody>
      </p:sp>
    </p:spTree>
    <p:extLst>
      <p:ext uri="{BB962C8B-B14F-4D97-AF65-F5344CB8AC3E}">
        <p14:creationId xmlns:p14="http://schemas.microsoft.com/office/powerpoint/2010/main" val="1731706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F5A755-B519-B142-8B54-0B714434C258}" type="slidenum">
              <a:rPr lang="en-US" smtClean="0"/>
              <a:t>1</a:t>
            </a:fld>
            <a:endParaRPr lang="en-US"/>
          </a:p>
        </p:txBody>
      </p:sp>
    </p:spTree>
    <p:extLst>
      <p:ext uri="{BB962C8B-B14F-4D97-AF65-F5344CB8AC3E}">
        <p14:creationId xmlns:p14="http://schemas.microsoft.com/office/powerpoint/2010/main" val="1571366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0D0D0D"/>
                </a:solidFill>
                <a:effectLst/>
                <a:highlight>
                  <a:srgbClr val="FFFFFF"/>
                </a:highlight>
                <a:latin typeface="Söhne"/>
              </a:rPr>
              <a:t>Good evening, everyone. </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Today, I'll be presenting my research on the correlation between median household income and homicide rate, as well as the impact of homicide rate on life expectancy, state by state.</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Firstly, I set out to explore whether there's a relationship between median household income and homicide rate across different states. I gathered data on these variables and conducted a thorough analysis to understand any potential correlations.</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Secondly, I delved into investigating whether homicide rates have any influence on life expectancy at the state level. This aspect of the research aimed to uncover any potential effects of crime rates on public health outcomes.</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Throughout my analysis, I employed statistical techniques to examine these relationships, seeking to provide valuable insights into public policy decisions, resource allocation, and intervention strategies aimed at reducing crime and improving public health outcomes at the state level.</a:t>
            </a:r>
          </a:p>
          <a:p>
            <a:endParaRPr lang="en-US" dirty="0"/>
          </a:p>
        </p:txBody>
      </p:sp>
      <p:sp>
        <p:nvSpPr>
          <p:cNvPr id="4" name="Slide Number Placeholder 3"/>
          <p:cNvSpPr>
            <a:spLocks noGrp="1"/>
          </p:cNvSpPr>
          <p:nvPr>
            <p:ph type="sldNum" sz="quarter" idx="5"/>
          </p:nvPr>
        </p:nvSpPr>
        <p:spPr/>
        <p:txBody>
          <a:bodyPr/>
          <a:lstStyle/>
          <a:p>
            <a:fld id="{98F5A755-B519-B142-8B54-0B714434C258}" type="slidenum">
              <a:rPr lang="en-US" smtClean="0"/>
              <a:t>2</a:t>
            </a:fld>
            <a:endParaRPr lang="en-US"/>
          </a:p>
        </p:txBody>
      </p:sp>
    </p:spTree>
    <p:extLst>
      <p:ext uri="{BB962C8B-B14F-4D97-AF65-F5344CB8AC3E}">
        <p14:creationId xmlns:p14="http://schemas.microsoft.com/office/powerpoint/2010/main" val="18663860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0D0D0D"/>
                </a:solidFill>
                <a:effectLst/>
                <a:highlight>
                  <a:srgbClr val="FFFFFF"/>
                </a:highlight>
                <a:latin typeface="Söhne"/>
              </a:rPr>
              <a:t>For my first question, </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I formulated the null hypothesis that there is no relationship between median household income and homicide rate.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D0D0D"/>
                </a:solidFill>
                <a:effectLst/>
                <a:highlight>
                  <a:srgbClr val="FFFFFF"/>
                </a:highlight>
                <a:latin typeface="Söhne"/>
              </a:rPr>
              <a:t>	- </a:t>
            </a:r>
            <a:r>
              <a:rPr lang="en-US" dirty="0"/>
              <a:t>assume this </a:t>
            </a:r>
            <a:r>
              <a:rPr lang="en-US" dirty="0" err="1"/>
              <a:t>bc</a:t>
            </a:r>
            <a:r>
              <a:rPr lang="en-US" dirty="0"/>
              <a:t> we are searching for evidence that there is a correlation between these two variables</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Conversely, the alternative hypothesis suggests that such a relationship does exist.</a:t>
            </a:r>
          </a:p>
          <a:p>
            <a:pPr algn="l"/>
            <a:r>
              <a:rPr lang="en-US" b="0" i="0" dirty="0">
                <a:solidFill>
                  <a:srgbClr val="0D0D0D"/>
                </a:solidFill>
                <a:effectLst/>
                <a:highlight>
                  <a:srgbClr val="FFFFFF"/>
                </a:highlight>
                <a:latin typeface="Söhne"/>
              </a:rPr>
              <a:t>	-</a:t>
            </a:r>
            <a:r>
              <a:rPr lang="en-US" dirty="0"/>
              <a:t>This would be the opposite and would be the result if we found correlation</a:t>
            </a:r>
            <a:endParaRPr lang="en-US" b="0" i="0" dirty="0">
              <a:solidFill>
                <a:srgbClr val="0D0D0D"/>
              </a:solidFill>
              <a:effectLst/>
              <a:highlight>
                <a:srgbClr val="FFFFFF"/>
              </a:highlight>
              <a:latin typeface="Söhne"/>
            </a:endParaRPr>
          </a:p>
          <a:p>
            <a:pPr algn="l"/>
            <a:endParaRPr lang="en-US" b="0" i="0" dirty="0">
              <a:solidFill>
                <a:srgbClr val="0D0D0D"/>
              </a:solidFill>
              <a:effectLst/>
              <a:highlight>
                <a:srgbClr val="FFFFFF"/>
              </a:highlight>
              <a:latin typeface="Söhne"/>
            </a:endParaRP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Moving on to my second question, </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I established the null hypothesis that there is not a significant relationship between life expectancy at birth and homicide rate.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D0D0D"/>
                </a:solidFill>
                <a:effectLst/>
                <a:highlight>
                  <a:srgbClr val="FFFFFF"/>
                </a:highlight>
                <a:latin typeface="Söhne"/>
              </a:rPr>
              <a:t>	-</a:t>
            </a:r>
            <a:r>
              <a:rPr lang="en-US" dirty="0"/>
              <a:t>assume this </a:t>
            </a:r>
            <a:r>
              <a:rPr lang="en-US" dirty="0" err="1"/>
              <a:t>bc</a:t>
            </a:r>
            <a:r>
              <a:rPr lang="en-US" dirty="0"/>
              <a:t> we are searching for evidence that there is a correlation between these two variables</a:t>
            </a:r>
          </a:p>
          <a:p>
            <a:pPr algn="l"/>
            <a:endParaRPr lang="en-US" b="0" i="0" dirty="0">
              <a:solidFill>
                <a:srgbClr val="0D0D0D"/>
              </a:solidFill>
              <a:effectLst/>
              <a:highlight>
                <a:srgbClr val="FFFFFF"/>
              </a:highlight>
              <a:latin typeface="Söhne"/>
            </a:endParaRP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Conversely, the alternative hypothesis suggests that there is indeed a significant relationship between these two variables.</a:t>
            </a:r>
          </a:p>
          <a:p>
            <a:pPr algn="l"/>
            <a:r>
              <a:rPr lang="en-US" b="0" i="0" dirty="0">
                <a:solidFill>
                  <a:srgbClr val="0D0D0D"/>
                </a:solidFill>
                <a:effectLst/>
                <a:highlight>
                  <a:srgbClr val="FFFFFF"/>
                </a:highlight>
                <a:latin typeface="Söhne"/>
              </a:rPr>
              <a:t>	-</a:t>
            </a:r>
            <a:r>
              <a:rPr lang="en-US" dirty="0"/>
              <a:t>This would be the opposite and would be the result if we found correlation</a:t>
            </a:r>
            <a:endParaRPr lang="en-US" b="0" i="0" dirty="0">
              <a:solidFill>
                <a:srgbClr val="0D0D0D"/>
              </a:solidFill>
              <a:effectLst/>
              <a:highlight>
                <a:srgbClr val="FFFFFF"/>
              </a:highlight>
              <a:latin typeface="Söhne"/>
            </a:endParaRP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Null: assume this </a:t>
            </a:r>
            <a:r>
              <a:rPr lang="en-US" dirty="0" err="1"/>
              <a:t>bc</a:t>
            </a:r>
            <a:r>
              <a:rPr lang="en-US" dirty="0"/>
              <a:t> we are searching for evidence that there is a correlation between med income and </a:t>
            </a:r>
            <a:r>
              <a:rPr lang="en-US" dirty="0" err="1"/>
              <a:t>hom</a:t>
            </a:r>
            <a:r>
              <a:rPr lang="en-US" dirty="0"/>
              <a:t>. Rate</a:t>
            </a:r>
          </a:p>
          <a:p>
            <a:r>
              <a:rPr lang="en-US" dirty="0"/>
              <a:t>Alter: This would be the opposite and would be the result if we found correlation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Null: assume this </a:t>
            </a:r>
            <a:r>
              <a:rPr lang="en-US" dirty="0" err="1"/>
              <a:t>bc</a:t>
            </a:r>
            <a:r>
              <a:rPr lang="en-US" dirty="0"/>
              <a:t> we are searching for evidence that there is a correlation between </a:t>
            </a:r>
            <a:r>
              <a:rPr lang="en-US" dirty="0" err="1"/>
              <a:t>hom</a:t>
            </a:r>
            <a:r>
              <a:rPr lang="en-US" dirty="0"/>
              <a:t> rate and life expectancy</a:t>
            </a:r>
          </a:p>
          <a:p>
            <a:endParaRPr lang="en-US" dirty="0"/>
          </a:p>
        </p:txBody>
      </p:sp>
      <p:sp>
        <p:nvSpPr>
          <p:cNvPr id="4" name="Slide Number Placeholder 3"/>
          <p:cNvSpPr>
            <a:spLocks noGrp="1"/>
          </p:cNvSpPr>
          <p:nvPr>
            <p:ph type="sldNum" sz="quarter" idx="5"/>
          </p:nvPr>
        </p:nvSpPr>
        <p:spPr/>
        <p:txBody>
          <a:bodyPr/>
          <a:lstStyle/>
          <a:p>
            <a:fld id="{98F5A755-B519-B142-8B54-0B714434C258}" type="slidenum">
              <a:rPr lang="en-US" smtClean="0"/>
              <a:t>3</a:t>
            </a:fld>
            <a:endParaRPr lang="en-US"/>
          </a:p>
        </p:txBody>
      </p:sp>
    </p:spTree>
    <p:extLst>
      <p:ext uri="{BB962C8B-B14F-4D97-AF65-F5344CB8AC3E}">
        <p14:creationId xmlns:p14="http://schemas.microsoft.com/office/powerpoint/2010/main" val="4064322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200000"/>
              </a:lnSpc>
            </a:pPr>
            <a:r>
              <a:rPr lang="en-US" b="0" i="0" dirty="0">
                <a:solidFill>
                  <a:srgbClr val="0D0D0D"/>
                </a:solidFill>
                <a:effectLst/>
                <a:highlight>
                  <a:srgbClr val="FFFFFF"/>
                </a:highlight>
                <a:latin typeface="Söhne"/>
              </a:rPr>
              <a:t>Most importantly, </a:t>
            </a:r>
          </a:p>
          <a:p>
            <a:pPr>
              <a:lnSpc>
                <a:spcPct val="200000"/>
              </a:lnSpc>
            </a:pPr>
            <a:r>
              <a:rPr lang="en-US" b="0" i="0" dirty="0">
                <a:solidFill>
                  <a:srgbClr val="0D0D0D"/>
                </a:solidFill>
                <a:effectLst/>
                <a:highlight>
                  <a:srgbClr val="FFFFFF"/>
                </a:highlight>
                <a:latin typeface="Söhne"/>
              </a:rPr>
              <a:t>I utilized correlation analysis,</a:t>
            </a:r>
          </a:p>
          <a:p>
            <a:pPr>
              <a:lnSpc>
                <a:spcPct val="200000"/>
              </a:lnSpc>
            </a:pPr>
            <a:r>
              <a:rPr lang="en-US" b="0" i="0" dirty="0">
                <a:solidFill>
                  <a:srgbClr val="0D0D0D"/>
                </a:solidFill>
                <a:effectLst/>
                <a:highlight>
                  <a:srgbClr val="FFFFFF"/>
                </a:highlight>
                <a:latin typeface="Söhne"/>
              </a:rPr>
              <a:t>which aims to examine the relationship between multiple variables without manipulating them. </a:t>
            </a:r>
          </a:p>
          <a:p>
            <a:pPr>
              <a:lnSpc>
                <a:spcPct val="200000"/>
              </a:lnSpc>
            </a:pPr>
            <a:endParaRPr lang="en-US" b="0" i="0" dirty="0">
              <a:solidFill>
                <a:srgbClr val="0D0D0D"/>
              </a:solidFill>
              <a:effectLst/>
              <a:highlight>
                <a:srgbClr val="FFFFFF"/>
              </a:highlight>
              <a:latin typeface="Söhne"/>
            </a:endParaRPr>
          </a:p>
          <a:p>
            <a:pPr>
              <a:lnSpc>
                <a:spcPct val="200000"/>
              </a:lnSpc>
            </a:pPr>
            <a:r>
              <a:rPr lang="en-US" b="0" i="0" dirty="0">
                <a:solidFill>
                  <a:srgbClr val="0D0D0D"/>
                </a:solidFill>
                <a:effectLst/>
                <a:highlight>
                  <a:srgbClr val="FFFFFF"/>
                </a:highlight>
                <a:latin typeface="Söhne"/>
              </a:rPr>
              <a:t>This method allowed me to summarize my findings and describe the main features of the dataset, </a:t>
            </a:r>
          </a:p>
          <a:p>
            <a:pPr>
              <a:lnSpc>
                <a:spcPct val="200000"/>
              </a:lnSpc>
            </a:pPr>
            <a:r>
              <a:rPr lang="en-US" b="0" i="0" dirty="0">
                <a:solidFill>
                  <a:srgbClr val="0D0D0D"/>
                </a:solidFill>
                <a:effectLst/>
                <a:highlight>
                  <a:srgbClr val="FFFFFF"/>
                </a:highlight>
                <a:latin typeface="Söhne"/>
              </a:rPr>
              <a:t>such as calculating means and medians of the data.</a:t>
            </a:r>
          </a:p>
          <a:p>
            <a:pPr>
              <a:lnSpc>
                <a:spcPct val="200000"/>
              </a:lnSpc>
            </a:pPr>
            <a:endParaRPr lang="en-US" b="0" i="0" dirty="0">
              <a:solidFill>
                <a:srgbClr val="0D0D0D"/>
              </a:solidFill>
              <a:effectLst/>
              <a:highlight>
                <a:srgbClr val="FFFFFF"/>
              </a:highlight>
              <a:latin typeface="Söhne"/>
            </a:endParaRPr>
          </a:p>
          <a:p>
            <a:pPr>
              <a:lnSpc>
                <a:spcPct val="200000"/>
              </a:lnSpc>
            </a:pPr>
            <a:endParaRPr lang="en-US" b="0" i="0" dirty="0">
              <a:solidFill>
                <a:srgbClr val="0D0D0D"/>
              </a:solidFill>
              <a:effectLst/>
              <a:highlight>
                <a:srgbClr val="FFFFFF"/>
              </a:highlight>
              <a:latin typeface="Söhne"/>
            </a:endParaRPr>
          </a:p>
          <a:p>
            <a:pPr>
              <a:lnSpc>
                <a:spcPct val="200000"/>
              </a:lnSpc>
            </a:pPr>
            <a:r>
              <a:rPr lang="en-US" b="0" i="0" dirty="0">
                <a:solidFill>
                  <a:srgbClr val="0D0D0D"/>
                </a:solidFill>
                <a:effectLst/>
                <a:highlight>
                  <a:srgbClr val="FFFFFF"/>
                </a:highlight>
                <a:latin typeface="Söhne"/>
              </a:rPr>
              <a:t>Next, </a:t>
            </a:r>
          </a:p>
          <a:p>
            <a:pPr>
              <a:lnSpc>
                <a:spcPct val="200000"/>
              </a:lnSpc>
            </a:pPr>
            <a:r>
              <a:rPr lang="en-US" b="0" i="0" dirty="0">
                <a:solidFill>
                  <a:srgbClr val="0D0D0D"/>
                </a:solidFill>
                <a:effectLst/>
                <a:highlight>
                  <a:srgbClr val="FFFFFF"/>
                </a:highlight>
                <a:latin typeface="Söhne"/>
              </a:rPr>
              <a:t>I employed inferential analysis to draw conclusions and make inferences about the population based on the data. </a:t>
            </a:r>
          </a:p>
          <a:p>
            <a:pPr>
              <a:lnSpc>
                <a:spcPct val="200000"/>
              </a:lnSpc>
            </a:pPr>
            <a:endParaRPr lang="en-US" b="0" i="0" dirty="0">
              <a:solidFill>
                <a:srgbClr val="0D0D0D"/>
              </a:solidFill>
              <a:effectLst/>
              <a:highlight>
                <a:srgbClr val="FFFFFF"/>
              </a:highlight>
              <a:latin typeface="Söhne"/>
            </a:endParaRPr>
          </a:p>
          <a:p>
            <a:pPr>
              <a:lnSpc>
                <a:spcPct val="200000"/>
              </a:lnSpc>
            </a:pPr>
            <a:r>
              <a:rPr lang="en-US" b="0" i="0" dirty="0">
                <a:solidFill>
                  <a:srgbClr val="0D0D0D"/>
                </a:solidFill>
                <a:effectLst/>
                <a:highlight>
                  <a:srgbClr val="FFFFFF"/>
                </a:highlight>
                <a:latin typeface="Söhne"/>
              </a:rPr>
              <a:t>This involved techniques such as hypothesis testing and implementation of confidence intervals.</a:t>
            </a:r>
          </a:p>
          <a:p>
            <a:pPr>
              <a:lnSpc>
                <a:spcPct val="200000"/>
              </a:lnSpc>
            </a:pPr>
            <a:endParaRPr lang="en-US" b="0" i="0" dirty="0">
              <a:solidFill>
                <a:srgbClr val="0D0D0D"/>
              </a:solidFill>
              <a:effectLst/>
              <a:highlight>
                <a:srgbClr val="FFFFFF"/>
              </a:highlight>
              <a:latin typeface="Söhne"/>
            </a:endParaRPr>
          </a:p>
          <a:p>
            <a:pPr>
              <a:lnSpc>
                <a:spcPct val="200000"/>
              </a:lnSpc>
            </a:pPr>
            <a:endParaRPr lang="en-US" b="0" i="0" dirty="0">
              <a:solidFill>
                <a:srgbClr val="0D0D0D"/>
              </a:solidFill>
              <a:effectLst/>
              <a:highlight>
                <a:srgbClr val="FFFFFF"/>
              </a:highlight>
              <a:latin typeface="Söhne"/>
            </a:endParaRPr>
          </a:p>
          <a:p>
            <a:pPr>
              <a:lnSpc>
                <a:spcPct val="200000"/>
              </a:lnSpc>
            </a:pPr>
            <a:r>
              <a:rPr lang="en-US" b="0" i="0" dirty="0">
                <a:solidFill>
                  <a:srgbClr val="0D0D0D"/>
                </a:solidFill>
                <a:effectLst/>
                <a:highlight>
                  <a:srgbClr val="FFFFFF"/>
                </a:highlight>
                <a:latin typeface="Söhne"/>
              </a:rPr>
              <a:t>Additionally, </a:t>
            </a:r>
          </a:p>
          <a:p>
            <a:pPr>
              <a:lnSpc>
                <a:spcPct val="200000"/>
              </a:lnSpc>
            </a:pPr>
            <a:r>
              <a:rPr lang="en-US" b="0" i="0" dirty="0">
                <a:solidFill>
                  <a:srgbClr val="0D0D0D"/>
                </a:solidFill>
                <a:effectLst/>
                <a:highlight>
                  <a:srgbClr val="FFFFFF"/>
                </a:highlight>
                <a:latin typeface="Söhne"/>
              </a:rPr>
              <a:t>I conducted comparison analysis by comparing different groups, </a:t>
            </a:r>
          </a:p>
          <a:p>
            <a:pPr>
              <a:lnSpc>
                <a:spcPct val="200000"/>
              </a:lnSpc>
            </a:pPr>
            <a:r>
              <a:rPr lang="en-US" b="0" i="0" dirty="0">
                <a:solidFill>
                  <a:srgbClr val="0D0D0D"/>
                </a:solidFill>
                <a:effectLst/>
                <a:highlight>
                  <a:srgbClr val="FFFFFF"/>
                </a:highlight>
                <a:latin typeface="Söhne"/>
              </a:rPr>
              <a:t>such as states with different median incomes, </a:t>
            </a:r>
          </a:p>
          <a:p>
            <a:pPr>
              <a:lnSpc>
                <a:spcPct val="200000"/>
              </a:lnSpc>
            </a:pPr>
            <a:r>
              <a:rPr lang="en-US" b="0" i="0" dirty="0">
                <a:solidFill>
                  <a:srgbClr val="0D0D0D"/>
                </a:solidFill>
                <a:effectLst/>
                <a:highlight>
                  <a:srgbClr val="FFFFFF"/>
                </a:highlight>
                <a:latin typeface="Söhne"/>
              </a:rPr>
              <a:t>homicide rates, and life expectancy. </a:t>
            </a:r>
          </a:p>
          <a:p>
            <a:pPr>
              <a:lnSpc>
                <a:spcPct val="200000"/>
              </a:lnSpc>
            </a:pPr>
            <a:endParaRPr lang="en-US" b="0" i="0" dirty="0">
              <a:solidFill>
                <a:srgbClr val="0D0D0D"/>
              </a:solidFill>
              <a:effectLst/>
              <a:highlight>
                <a:srgbClr val="FFFFFF"/>
              </a:highlight>
              <a:latin typeface="Söhne"/>
            </a:endParaRPr>
          </a:p>
          <a:p>
            <a:pPr>
              <a:lnSpc>
                <a:spcPct val="200000"/>
              </a:lnSpc>
            </a:pPr>
            <a:r>
              <a:rPr lang="en-US" b="0" i="0" dirty="0">
                <a:solidFill>
                  <a:srgbClr val="0D0D0D"/>
                </a:solidFill>
                <a:effectLst/>
                <a:highlight>
                  <a:srgbClr val="FFFFFF"/>
                </a:highlight>
                <a:latin typeface="Söhne"/>
              </a:rPr>
              <a:t>This allowed me to assess similarities and differences between these groups.</a:t>
            </a:r>
            <a:endParaRPr lang="en-US" dirty="0"/>
          </a:p>
          <a:p>
            <a:pPr>
              <a:lnSpc>
                <a:spcPct val="200000"/>
              </a:lnSpc>
            </a:pPr>
            <a:endParaRPr lang="en-US" dirty="0"/>
          </a:p>
          <a:p>
            <a:pPr>
              <a:lnSpc>
                <a:spcPct val="200000"/>
              </a:lnSpc>
            </a:pPr>
            <a:endParaRPr lang="en-US" dirty="0"/>
          </a:p>
          <a:p>
            <a:pPr marL="0" marR="0" lvl="0" indent="0" algn="l" defTabSz="914400" rtl="0" eaLnBrk="1" fontAlgn="auto" latinLnBrk="0" hangingPunct="1">
              <a:lnSpc>
                <a:spcPct val="200000"/>
              </a:lnSpc>
              <a:spcBef>
                <a:spcPts val="0"/>
              </a:spcBef>
              <a:spcAft>
                <a:spcPts val="0"/>
              </a:spcAft>
              <a:buClrTx/>
              <a:buSzTx/>
              <a:buFontTx/>
              <a:buNone/>
              <a:tabLst/>
              <a:defRPr/>
            </a:pPr>
            <a:r>
              <a:rPr lang="en-US" b="0" i="0" dirty="0">
                <a:solidFill>
                  <a:srgbClr val="0D0D0D"/>
                </a:solidFill>
                <a:effectLst/>
                <a:highlight>
                  <a:srgbClr val="FFFFFF"/>
                </a:highlight>
                <a:latin typeface="Söhne"/>
              </a:rPr>
              <a:t>To facilitate comparison analysis, </a:t>
            </a:r>
          </a:p>
          <a:p>
            <a:pPr marL="0" marR="0" lvl="0" indent="0" algn="l" defTabSz="914400" rtl="0" eaLnBrk="1" fontAlgn="auto" latinLnBrk="0" hangingPunct="1">
              <a:lnSpc>
                <a:spcPct val="200000"/>
              </a:lnSpc>
              <a:spcBef>
                <a:spcPts val="0"/>
              </a:spcBef>
              <a:spcAft>
                <a:spcPts val="0"/>
              </a:spcAft>
              <a:buClrTx/>
              <a:buSzTx/>
              <a:buFontTx/>
              <a:buNone/>
              <a:tabLst/>
              <a:defRPr/>
            </a:pPr>
            <a:r>
              <a:rPr lang="en-US" b="0" i="0" dirty="0">
                <a:solidFill>
                  <a:srgbClr val="0D0D0D"/>
                </a:solidFill>
                <a:effectLst/>
                <a:highlight>
                  <a:srgbClr val="FFFFFF"/>
                </a:highlight>
                <a:latin typeface="Söhne"/>
              </a:rPr>
              <a:t>I utilized A/B testing, </a:t>
            </a:r>
          </a:p>
          <a:p>
            <a:pPr marL="0" marR="0" lvl="0" indent="0" algn="l" defTabSz="914400" rtl="0" eaLnBrk="1" fontAlgn="auto" latinLnBrk="0" hangingPunct="1">
              <a:lnSpc>
                <a:spcPct val="200000"/>
              </a:lnSpc>
              <a:spcBef>
                <a:spcPts val="0"/>
              </a:spcBef>
              <a:spcAft>
                <a:spcPts val="0"/>
              </a:spcAft>
              <a:buClrTx/>
              <a:buSzTx/>
              <a:buFontTx/>
              <a:buNone/>
              <a:tabLst/>
              <a:defRPr/>
            </a:pPr>
            <a:r>
              <a:rPr lang="en-US" b="0" i="0" dirty="0">
                <a:solidFill>
                  <a:srgbClr val="0D0D0D"/>
                </a:solidFill>
                <a:effectLst/>
                <a:highlight>
                  <a:srgbClr val="FFFFFF"/>
                </a:highlight>
                <a:latin typeface="Söhne"/>
              </a:rPr>
              <a:t>which helped me compare the groups and determine if there is significance between the variables.</a:t>
            </a:r>
            <a:endParaRPr lang="en-US" sz="1200" b="0" i="0" dirty="0">
              <a:solidFill>
                <a:srgbClr val="0D0D0D"/>
              </a:solidFill>
              <a:effectLst/>
              <a:highlight>
                <a:srgbClr val="FFFFFF"/>
              </a:highlight>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200000"/>
              </a:lnSpc>
              <a:spcBef>
                <a:spcPts val="0"/>
              </a:spcBef>
              <a:spcAft>
                <a:spcPts val="0"/>
              </a:spcAft>
              <a:buClrTx/>
              <a:buSzTx/>
              <a:buFontTx/>
              <a:buNone/>
              <a:tabLst/>
              <a:defRPr/>
            </a:pPr>
            <a:endParaRPr lang="en-US" sz="1200" b="0" i="0" dirty="0">
              <a:solidFill>
                <a:srgbClr val="0D0D0D"/>
              </a:solidFill>
              <a:effectLst/>
              <a:highlight>
                <a:srgbClr val="FFFFFF"/>
              </a:highlight>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200000"/>
              </a:lnSpc>
              <a:spcBef>
                <a:spcPts val="0"/>
              </a:spcBef>
              <a:spcAft>
                <a:spcPts val="0"/>
              </a:spcAft>
              <a:buClrTx/>
              <a:buSzTx/>
              <a:buFontTx/>
              <a:buNone/>
              <a:tabLst/>
              <a:defRPr/>
            </a:pPr>
            <a:endParaRPr lang="en-US" sz="1200" b="0" i="0" dirty="0">
              <a:solidFill>
                <a:srgbClr val="0D0D0D"/>
              </a:solidFill>
              <a:effectLst/>
              <a:highlight>
                <a:srgbClr val="FFFFFF"/>
              </a:highlight>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200000"/>
              </a:lnSpc>
              <a:spcBef>
                <a:spcPts val="0"/>
              </a:spcBef>
              <a:spcAft>
                <a:spcPts val="0"/>
              </a:spcAft>
              <a:buClrTx/>
              <a:buSzTx/>
              <a:buFontTx/>
              <a:buNone/>
              <a:tabLst/>
              <a:defRPr/>
            </a:pPr>
            <a:r>
              <a:rPr lang="en-US" b="0" i="0" dirty="0">
                <a:solidFill>
                  <a:srgbClr val="0D0D0D"/>
                </a:solidFill>
                <a:effectLst/>
                <a:highlight>
                  <a:srgbClr val="FFFFFF"/>
                </a:highlight>
                <a:latin typeface="Söhne"/>
              </a:rPr>
              <a:t>Finally, </a:t>
            </a:r>
          </a:p>
          <a:p>
            <a:pPr marL="0" marR="0" lvl="0" indent="0" algn="l" defTabSz="914400" rtl="0" eaLnBrk="1" fontAlgn="auto" latinLnBrk="0" hangingPunct="1">
              <a:lnSpc>
                <a:spcPct val="200000"/>
              </a:lnSpc>
              <a:spcBef>
                <a:spcPts val="0"/>
              </a:spcBef>
              <a:spcAft>
                <a:spcPts val="0"/>
              </a:spcAft>
              <a:buClrTx/>
              <a:buSzTx/>
              <a:buFontTx/>
              <a:buNone/>
              <a:tabLst/>
              <a:defRPr/>
            </a:pPr>
            <a:r>
              <a:rPr lang="en-US" b="0" i="0" dirty="0">
                <a:solidFill>
                  <a:srgbClr val="0D0D0D"/>
                </a:solidFill>
                <a:effectLst/>
                <a:highlight>
                  <a:srgbClr val="FFFFFF"/>
                </a:highlight>
                <a:latin typeface="Söhne"/>
              </a:rPr>
              <a:t>I employed simulation analysis to simulate comparisons to ensure accurate p-values reflecting the true correlation. </a:t>
            </a:r>
          </a:p>
          <a:p>
            <a:pPr marL="0" marR="0" lvl="0" indent="0" algn="l" defTabSz="914400" rtl="0" eaLnBrk="1" fontAlgn="auto" latinLnBrk="0" hangingPunct="1">
              <a:lnSpc>
                <a:spcPct val="200000"/>
              </a:lnSpc>
              <a:spcBef>
                <a:spcPts val="0"/>
              </a:spcBef>
              <a:spcAft>
                <a:spcPts val="0"/>
              </a:spcAft>
              <a:buClrTx/>
              <a:buSzTx/>
              <a:buFontTx/>
              <a:buNone/>
              <a:tabLst/>
              <a:defRPr/>
            </a:pPr>
            <a:r>
              <a:rPr lang="en-US" b="0" i="0" dirty="0">
                <a:solidFill>
                  <a:srgbClr val="0D0D0D"/>
                </a:solidFill>
                <a:effectLst/>
                <a:highlight>
                  <a:srgbClr val="FFFFFF"/>
                </a:highlight>
                <a:latin typeface="Söhne"/>
              </a:rPr>
              <a:t>This comprehensive approach allowed me to thoroughly analyze the relationships between the variables under study.</a:t>
            </a:r>
            <a:endParaRPr lang="en-US" dirty="0"/>
          </a:p>
          <a:p>
            <a:endParaRPr lang="en-US" dirty="0"/>
          </a:p>
          <a:p>
            <a:endParaRPr lang="en-US" dirty="0"/>
          </a:p>
          <a:p>
            <a:endParaRPr lang="en-US" dirty="0"/>
          </a:p>
          <a:p>
            <a:endParaRPr lang="en-US" dirty="0"/>
          </a:p>
          <a:p>
            <a:endParaRPr lang="en-US" dirty="0"/>
          </a:p>
          <a:p>
            <a:r>
              <a:rPr lang="en-US" dirty="0"/>
              <a:t>MAIN Method: Correlation </a:t>
            </a:r>
            <a:r>
              <a:rPr lang="en-US" dirty="0" err="1"/>
              <a:t>Analy</a:t>
            </a:r>
            <a:endParaRPr lang="en-US" dirty="0"/>
          </a:p>
          <a:p>
            <a:pPr marL="171450" indent="-171450">
              <a:buFontTx/>
              <a:buChar char="-"/>
            </a:pPr>
            <a:r>
              <a:rPr lang="en-US" dirty="0"/>
              <a:t>Aims to examine the relationship between multiple variables without manipulating them</a:t>
            </a:r>
          </a:p>
          <a:p>
            <a:pPr marL="171450" indent="-171450">
              <a:buFontTx/>
              <a:buChar char="-"/>
            </a:pPr>
            <a:endParaRPr lang="en-US" dirty="0"/>
          </a:p>
          <a:p>
            <a:pPr marL="171450" indent="-171450">
              <a:buFontTx/>
              <a:buChar char="-"/>
            </a:pPr>
            <a:r>
              <a:rPr lang="en-US" dirty="0"/>
              <a:t>Descript. </a:t>
            </a:r>
            <a:r>
              <a:rPr lang="en-US" dirty="0" err="1"/>
              <a:t>Analy</a:t>
            </a:r>
            <a:r>
              <a:rPr lang="en-US" dirty="0"/>
              <a:t>.</a:t>
            </a:r>
          </a:p>
          <a:p>
            <a:pPr marL="628650" lvl="1" indent="-171450">
              <a:buFontTx/>
              <a:buChar char="-"/>
            </a:pPr>
            <a:r>
              <a:rPr lang="en-US" dirty="0"/>
              <a:t>Summarize my findings &amp; describe main features of the dataset</a:t>
            </a:r>
          </a:p>
          <a:p>
            <a:pPr marL="628650" lvl="1" indent="-171450">
              <a:buFontTx/>
              <a:buChar char="-"/>
            </a:pPr>
            <a:r>
              <a:rPr lang="en-US" dirty="0"/>
              <a:t>Ex of how it was used) calculating means and medians of the data</a:t>
            </a:r>
          </a:p>
          <a:p>
            <a:pPr marL="628650" lvl="1" indent="-171450">
              <a:buFontTx/>
              <a:buChar char="-"/>
            </a:pPr>
            <a:endParaRPr lang="en-US" dirty="0"/>
          </a:p>
          <a:p>
            <a:pPr marL="171450" lvl="0" indent="-171450">
              <a:buFontTx/>
              <a:buChar char="-"/>
            </a:pPr>
            <a:r>
              <a:rPr lang="en-US" dirty="0"/>
              <a:t>Inferential </a:t>
            </a:r>
            <a:r>
              <a:rPr lang="en-US" dirty="0" err="1"/>
              <a:t>Analy</a:t>
            </a:r>
            <a:r>
              <a:rPr lang="en-US" dirty="0"/>
              <a:t>.</a:t>
            </a:r>
          </a:p>
          <a:p>
            <a:pPr marL="628650" lvl="1" indent="-171450">
              <a:buFontTx/>
              <a:buChar char="-"/>
            </a:pPr>
            <a:r>
              <a:rPr lang="en-US" dirty="0"/>
              <a:t>Utilized to draw conclusions and make inferences about the population based on the data</a:t>
            </a:r>
          </a:p>
          <a:p>
            <a:pPr marL="628650" lvl="1" indent="-171450">
              <a:buFontTx/>
              <a:buChar char="-"/>
            </a:pPr>
            <a:r>
              <a:rPr lang="en-US" dirty="0"/>
              <a:t>Also used techniques such as hypothesis testing and implementation of confidence intervals</a:t>
            </a:r>
          </a:p>
          <a:p>
            <a:pPr marL="171450" lvl="0" indent="-171450">
              <a:buFontTx/>
              <a:buChar char="-"/>
            </a:pPr>
            <a:r>
              <a:rPr lang="en-US" dirty="0"/>
              <a:t>Comparison Analysis</a:t>
            </a:r>
          </a:p>
          <a:p>
            <a:pPr marL="628650" lvl="1" indent="-171450">
              <a:buFontTx/>
              <a:buChar char="-"/>
            </a:pPr>
            <a:r>
              <a:rPr lang="en-US" dirty="0"/>
              <a:t>Did it by comparing different groups such as states with different median incomes, homicide rates, and life expectancy</a:t>
            </a:r>
          </a:p>
          <a:p>
            <a:pPr marL="628650" lvl="1" indent="-171450">
              <a:buFontTx/>
              <a:buChar char="-"/>
            </a:pPr>
            <a:r>
              <a:rPr lang="en-US" dirty="0"/>
              <a:t>Was used to assess similarities and differences between these different groups</a:t>
            </a:r>
          </a:p>
          <a:p>
            <a:pPr marL="171450" lvl="0" indent="-171450">
              <a:buFontTx/>
              <a:buChar char="-"/>
            </a:pPr>
            <a:r>
              <a:rPr lang="en-US" dirty="0"/>
              <a:t>A/B Testing</a:t>
            </a:r>
          </a:p>
          <a:p>
            <a:pPr marL="628650" lvl="1" indent="-171450">
              <a:buFontTx/>
              <a:buChar char="-"/>
            </a:pPr>
            <a:r>
              <a:rPr lang="en-US" dirty="0"/>
              <a:t>Did this in order to do a good comparison analysis</a:t>
            </a:r>
          </a:p>
          <a:p>
            <a:pPr marL="628650" lvl="1" indent="-171450">
              <a:buFontTx/>
              <a:buChar char="-"/>
            </a:pPr>
            <a:r>
              <a:rPr lang="en-US" dirty="0"/>
              <a:t>Helped me compare the groups and determine if there is significance between the variables</a:t>
            </a:r>
          </a:p>
          <a:p>
            <a:pPr marL="171450" lvl="0" indent="-171450">
              <a:buFontTx/>
              <a:buChar char="-"/>
            </a:pPr>
            <a:r>
              <a:rPr lang="en-US" dirty="0"/>
              <a:t>Simulation </a:t>
            </a:r>
            <a:r>
              <a:rPr lang="en-US" dirty="0" err="1"/>
              <a:t>Analy</a:t>
            </a:r>
            <a:r>
              <a:rPr lang="en-US" dirty="0"/>
              <a:t>.</a:t>
            </a:r>
          </a:p>
          <a:p>
            <a:pPr marL="628650" lvl="1" indent="-171450">
              <a:buFontTx/>
              <a:buChar char="-"/>
            </a:pPr>
            <a:r>
              <a:rPr lang="en-US" dirty="0"/>
              <a:t>I had to simulate the comparisons to ensure I didn’t get a p-value that was not accurate to the true correlation</a:t>
            </a:r>
          </a:p>
          <a:p>
            <a:pPr marL="628650" lvl="1" indent="-171450">
              <a:buFontTx/>
              <a:buChar char="-"/>
            </a:pPr>
            <a:endParaRPr lang="en-US" dirty="0"/>
          </a:p>
          <a:p>
            <a:pPr marL="171450" lvl="0" indent="-171450">
              <a:buFontTx/>
              <a:buChar char="-"/>
            </a:pPr>
            <a:endParaRPr lang="en-US" dirty="0"/>
          </a:p>
        </p:txBody>
      </p:sp>
      <p:sp>
        <p:nvSpPr>
          <p:cNvPr id="4" name="Slide Number Placeholder 3"/>
          <p:cNvSpPr>
            <a:spLocks noGrp="1"/>
          </p:cNvSpPr>
          <p:nvPr>
            <p:ph type="sldNum" sz="quarter" idx="5"/>
          </p:nvPr>
        </p:nvSpPr>
        <p:spPr/>
        <p:txBody>
          <a:bodyPr/>
          <a:lstStyle/>
          <a:p>
            <a:fld id="{98F5A755-B519-B142-8B54-0B714434C258}" type="slidenum">
              <a:rPr lang="en-US" smtClean="0"/>
              <a:t>4</a:t>
            </a:fld>
            <a:endParaRPr lang="en-US"/>
          </a:p>
        </p:txBody>
      </p:sp>
    </p:spTree>
    <p:extLst>
      <p:ext uri="{BB962C8B-B14F-4D97-AF65-F5344CB8AC3E}">
        <p14:creationId xmlns:p14="http://schemas.microsoft.com/office/powerpoint/2010/main" val="16924951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0D0D0D"/>
                </a:solidFill>
                <a:effectLst/>
                <a:highlight>
                  <a:srgbClr val="FFFFFF"/>
                </a:highlight>
                <a:latin typeface="Söhne"/>
              </a:rPr>
              <a:t>To begin with, </a:t>
            </a:r>
          </a:p>
          <a:p>
            <a:pPr algn="l"/>
            <a:r>
              <a:rPr lang="en-US" b="0" i="0" dirty="0">
                <a:solidFill>
                  <a:srgbClr val="0D0D0D"/>
                </a:solidFill>
                <a:effectLst/>
                <a:highlight>
                  <a:srgbClr val="FFFFFF"/>
                </a:highlight>
                <a:latin typeface="Söhne"/>
              </a:rPr>
              <a:t>I collected data</a:t>
            </a:r>
          </a:p>
          <a:p>
            <a:pPr algn="l"/>
            <a:r>
              <a:rPr lang="en-US" b="0" i="0" dirty="0">
                <a:solidFill>
                  <a:srgbClr val="0D0D0D"/>
                </a:solidFill>
                <a:effectLst/>
                <a:highlight>
                  <a:srgbClr val="FFFFFF"/>
                </a:highlight>
                <a:latin typeface="Söhne"/>
              </a:rPr>
              <a:t>including homicide rate, life expectancy, </a:t>
            </a:r>
          </a:p>
          <a:p>
            <a:pPr algn="l"/>
            <a:r>
              <a:rPr lang="en-US" b="0" i="0" dirty="0">
                <a:solidFill>
                  <a:srgbClr val="0D0D0D"/>
                </a:solidFill>
                <a:effectLst/>
                <a:highlight>
                  <a:srgbClr val="FFFFFF"/>
                </a:highlight>
                <a:latin typeface="Söhne"/>
              </a:rPr>
              <a:t>and median household income</a:t>
            </a:r>
          </a:p>
          <a:p>
            <a:pPr algn="l"/>
            <a:r>
              <a:rPr lang="en-US" b="0" i="0" dirty="0">
                <a:solidFill>
                  <a:srgbClr val="0D0D0D"/>
                </a:solidFill>
                <a:effectLst/>
                <a:highlight>
                  <a:srgbClr val="FFFFFF"/>
                </a:highlight>
                <a:latin typeface="Söhne"/>
              </a:rPr>
              <a:t>from various government websites,</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For homicide and life expectancy data, </a:t>
            </a:r>
          </a:p>
          <a:p>
            <a:pPr algn="l"/>
            <a:r>
              <a:rPr lang="en-US" b="0" i="0" dirty="0">
                <a:solidFill>
                  <a:srgbClr val="0D0D0D"/>
                </a:solidFill>
                <a:effectLst/>
                <a:highlight>
                  <a:srgbClr val="FFFFFF"/>
                </a:highlight>
                <a:latin typeface="Söhne"/>
              </a:rPr>
              <a:t>I obtained information from the CDC's state-wide statistics page. </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This platform provided comprehensive data for each state, </a:t>
            </a:r>
          </a:p>
          <a:p>
            <a:pPr algn="l"/>
            <a:r>
              <a:rPr lang="en-US" b="0" i="0" dirty="0">
                <a:solidFill>
                  <a:srgbClr val="0D0D0D"/>
                </a:solidFill>
                <a:effectLst/>
                <a:highlight>
                  <a:srgbClr val="FFFFFF"/>
                </a:highlight>
                <a:latin typeface="Söhne"/>
              </a:rPr>
              <a:t>allowing me to access relevant statistics.</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Additionally, </a:t>
            </a:r>
          </a:p>
          <a:p>
            <a:pPr algn="l"/>
            <a:r>
              <a:rPr lang="en-US" b="0" i="0" dirty="0">
                <a:solidFill>
                  <a:srgbClr val="0D0D0D"/>
                </a:solidFill>
                <a:effectLst/>
                <a:highlight>
                  <a:srgbClr val="FFFFFF"/>
                </a:highlight>
                <a:latin typeface="Söhne"/>
              </a:rPr>
              <a:t>I retrieved median household income data from </a:t>
            </a:r>
            <a:r>
              <a:rPr lang="en-US" b="0" i="0" dirty="0" err="1">
                <a:solidFill>
                  <a:srgbClr val="0D0D0D"/>
                </a:solidFill>
                <a:effectLst/>
                <a:highlight>
                  <a:srgbClr val="FFFFFF"/>
                </a:highlight>
                <a:latin typeface="Söhne"/>
              </a:rPr>
              <a:t>census.gov</a:t>
            </a:r>
            <a:r>
              <a:rPr lang="en-US" b="0" i="0" dirty="0">
                <a:solidFill>
                  <a:srgbClr val="0D0D0D"/>
                </a:solidFill>
                <a:effectLst/>
                <a:highlight>
                  <a:srgbClr val="FFFFFF"/>
                </a:highlight>
                <a:latin typeface="Söhne"/>
              </a:rPr>
              <a:t>, </a:t>
            </a:r>
          </a:p>
          <a:p>
            <a:pPr algn="l"/>
            <a:r>
              <a:rPr lang="en-US" b="0" i="0" dirty="0">
                <a:solidFill>
                  <a:srgbClr val="0D0D0D"/>
                </a:solidFill>
                <a:effectLst/>
                <a:highlight>
                  <a:srgbClr val="FFFFFF"/>
                </a:highlight>
                <a:latin typeface="Söhne"/>
              </a:rPr>
              <a:t>which contained data from multiple years. </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However, for the purpose of my analysis, </a:t>
            </a:r>
          </a:p>
          <a:p>
            <a:pPr algn="l"/>
            <a:r>
              <a:rPr lang="en-US" b="0" i="0" dirty="0">
                <a:solidFill>
                  <a:srgbClr val="0D0D0D"/>
                </a:solidFill>
                <a:effectLst/>
                <a:highlight>
                  <a:srgbClr val="FFFFFF"/>
                </a:highlight>
                <a:latin typeface="Söhne"/>
              </a:rPr>
              <a:t>I focused specifically on the year 2018 to ensure consistency and accuracy in my findings.</a:t>
            </a:r>
          </a:p>
          <a:p>
            <a:endParaRPr lang="en-US" dirty="0"/>
          </a:p>
        </p:txBody>
      </p:sp>
      <p:sp>
        <p:nvSpPr>
          <p:cNvPr id="4" name="Slide Number Placeholder 3"/>
          <p:cNvSpPr>
            <a:spLocks noGrp="1"/>
          </p:cNvSpPr>
          <p:nvPr>
            <p:ph type="sldNum" sz="quarter" idx="5"/>
          </p:nvPr>
        </p:nvSpPr>
        <p:spPr/>
        <p:txBody>
          <a:bodyPr/>
          <a:lstStyle/>
          <a:p>
            <a:fld id="{98F5A755-B519-B142-8B54-0B714434C258}" type="slidenum">
              <a:rPr lang="en-US" smtClean="0"/>
              <a:t>5</a:t>
            </a:fld>
            <a:endParaRPr lang="en-US"/>
          </a:p>
        </p:txBody>
      </p:sp>
    </p:spTree>
    <p:extLst>
      <p:ext uri="{BB962C8B-B14F-4D97-AF65-F5344CB8AC3E}">
        <p14:creationId xmlns:p14="http://schemas.microsoft.com/office/powerpoint/2010/main" val="3380961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0D0D0D"/>
                </a:solidFill>
                <a:effectLst/>
                <a:highlight>
                  <a:srgbClr val="FFFFFF"/>
                </a:highlight>
                <a:latin typeface="Söhne"/>
              </a:rPr>
              <a:t>Now,</a:t>
            </a:r>
          </a:p>
          <a:p>
            <a:pPr algn="l"/>
            <a:r>
              <a:rPr lang="en-US" b="0" i="0" dirty="0">
                <a:solidFill>
                  <a:srgbClr val="0D0D0D"/>
                </a:solidFill>
                <a:effectLst/>
                <a:highlight>
                  <a:srgbClr val="FFFFFF"/>
                </a:highlight>
                <a:latin typeface="Söhne"/>
              </a:rPr>
              <a:t>let's delve into how I managed and prepared the data for analysis.</a:t>
            </a:r>
          </a:p>
          <a:p>
            <a:pPr algn="l"/>
            <a:endParaRPr lang="en-US" b="0" i="0" dirty="0">
              <a:solidFill>
                <a:srgbClr val="0D0D0D"/>
              </a:solidFill>
              <a:effectLst/>
              <a:highlight>
                <a:srgbClr val="FFFFFF"/>
              </a:highlight>
              <a:latin typeface="Söhne"/>
            </a:endParaRP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Firstly, </a:t>
            </a:r>
          </a:p>
          <a:p>
            <a:pPr algn="l"/>
            <a:r>
              <a:rPr lang="en-US" b="0" i="0" dirty="0">
                <a:solidFill>
                  <a:srgbClr val="0D0D0D"/>
                </a:solidFill>
                <a:effectLst/>
                <a:highlight>
                  <a:srgbClr val="FFFFFF"/>
                </a:highlight>
                <a:latin typeface="Söhne"/>
              </a:rPr>
              <a:t>I created a spreadsheet to consolidate and organize data from various sources. </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This allowed me to streamline the data collection process and maintain consistency throughout.</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Next, </a:t>
            </a:r>
          </a:p>
          <a:p>
            <a:pPr algn="l"/>
            <a:r>
              <a:rPr lang="en-US" b="0" i="0" dirty="0">
                <a:solidFill>
                  <a:srgbClr val="0D0D0D"/>
                </a:solidFill>
                <a:effectLst/>
                <a:highlight>
                  <a:srgbClr val="FFFFFF"/>
                </a:highlight>
                <a:latin typeface="Söhne"/>
              </a:rPr>
              <a:t>I meticulously filtered out any irrelevant information to ensure that only pertinent data was retained for analysis. </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This step was crucial in maintaining data accuracy and relevance to my research questions.</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Finally, </a:t>
            </a:r>
          </a:p>
          <a:p>
            <a:pPr algn="l"/>
            <a:r>
              <a:rPr lang="en-US" b="0" i="0" dirty="0">
                <a:solidFill>
                  <a:srgbClr val="0D0D0D"/>
                </a:solidFill>
                <a:effectLst/>
                <a:highlight>
                  <a:srgbClr val="FFFFFF"/>
                </a:highlight>
                <a:latin typeface="Söhne"/>
              </a:rPr>
              <a:t>I conducted data cleaning procedures to eliminate any inconsistencies or anomalies. </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This involved retaining only rows with valid numerical data, </a:t>
            </a:r>
          </a:p>
          <a:p>
            <a:pPr algn="l"/>
            <a:r>
              <a:rPr lang="en-US" b="0" i="0" dirty="0">
                <a:solidFill>
                  <a:srgbClr val="0D0D0D"/>
                </a:solidFill>
                <a:effectLst/>
                <a:highlight>
                  <a:srgbClr val="FFFFFF"/>
                </a:highlight>
                <a:latin typeface="Söhne"/>
              </a:rPr>
              <a:t>which helped in minimizing errors and ensuring the integrity of my analysis.</a:t>
            </a:r>
          </a:p>
          <a:p>
            <a:endParaRPr lang="en-US" dirty="0"/>
          </a:p>
          <a:p>
            <a:r>
              <a:rPr lang="en-US" dirty="0"/>
              <a:t>I did this for “Median Household income” and “homicide rate”</a:t>
            </a:r>
          </a:p>
        </p:txBody>
      </p:sp>
      <p:sp>
        <p:nvSpPr>
          <p:cNvPr id="4" name="Slide Number Placeholder 3"/>
          <p:cNvSpPr>
            <a:spLocks noGrp="1"/>
          </p:cNvSpPr>
          <p:nvPr>
            <p:ph type="sldNum" sz="quarter" idx="5"/>
          </p:nvPr>
        </p:nvSpPr>
        <p:spPr/>
        <p:txBody>
          <a:bodyPr/>
          <a:lstStyle/>
          <a:p>
            <a:fld id="{98F5A755-B519-B142-8B54-0B714434C258}" type="slidenum">
              <a:rPr lang="en-US" smtClean="0"/>
              <a:t>6</a:t>
            </a:fld>
            <a:endParaRPr lang="en-US"/>
          </a:p>
        </p:txBody>
      </p:sp>
    </p:spTree>
    <p:extLst>
      <p:ext uri="{BB962C8B-B14F-4D97-AF65-F5344CB8AC3E}">
        <p14:creationId xmlns:p14="http://schemas.microsoft.com/office/powerpoint/2010/main" val="7505170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0D0D0D"/>
                </a:solidFill>
                <a:effectLst/>
                <a:highlight>
                  <a:srgbClr val="FFFFFF"/>
                </a:highlight>
                <a:latin typeface="Söhne"/>
              </a:rPr>
              <a:t>let's explore how I managed missing values in the dataset using Python.</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To handle missing values, </a:t>
            </a:r>
          </a:p>
          <a:p>
            <a:pPr algn="l"/>
            <a:r>
              <a:rPr lang="en-US" b="0" i="0" dirty="0">
                <a:solidFill>
                  <a:srgbClr val="0D0D0D"/>
                </a:solidFill>
                <a:effectLst/>
                <a:highlight>
                  <a:srgbClr val="FFFFFF"/>
                </a:highlight>
                <a:latin typeface="Söhne"/>
              </a:rPr>
              <a:t>I employed Python programming techniques to effectively identify and manage </a:t>
            </a:r>
            <a:r>
              <a:rPr lang="en-US" b="0" i="0" dirty="0" err="1">
                <a:solidFill>
                  <a:srgbClr val="0D0D0D"/>
                </a:solidFill>
                <a:effectLst/>
                <a:highlight>
                  <a:srgbClr val="FFFFFF"/>
                </a:highlight>
                <a:latin typeface="Söhne"/>
              </a:rPr>
              <a:t>NaN</a:t>
            </a:r>
            <a:r>
              <a:rPr lang="en-US" b="0" i="0" dirty="0">
                <a:solidFill>
                  <a:srgbClr val="0D0D0D"/>
                </a:solidFill>
                <a:effectLst/>
                <a:highlight>
                  <a:srgbClr val="FFFFFF"/>
                </a:highlight>
                <a:latin typeface="Söhne"/>
              </a:rPr>
              <a:t> values.</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Specifically, </a:t>
            </a:r>
          </a:p>
          <a:p>
            <a:pPr algn="l"/>
            <a:r>
              <a:rPr lang="en-US" b="0" i="0" dirty="0">
                <a:solidFill>
                  <a:srgbClr val="0D0D0D"/>
                </a:solidFill>
                <a:effectLst/>
                <a:highlight>
                  <a:srgbClr val="FFFFFF"/>
                </a:highlight>
                <a:latin typeface="Söhne"/>
              </a:rPr>
              <a:t>I utilized the '</a:t>
            </a:r>
            <a:r>
              <a:rPr lang="en-US" b="0" i="0" dirty="0" err="1">
                <a:solidFill>
                  <a:srgbClr val="0D0D0D"/>
                </a:solidFill>
                <a:effectLst/>
                <a:highlight>
                  <a:srgbClr val="FFFFFF"/>
                </a:highlight>
                <a:latin typeface="Söhne"/>
              </a:rPr>
              <a:t>np.isnan</a:t>
            </a:r>
            <a:r>
              <a:rPr lang="en-US" b="0" i="0" dirty="0">
                <a:solidFill>
                  <a:srgbClr val="0D0D0D"/>
                </a:solidFill>
                <a:effectLst/>
                <a:highlight>
                  <a:srgbClr val="FFFFFF"/>
                </a:highlight>
                <a:latin typeface="Söhne"/>
              </a:rPr>
              <a:t>()' function from Python’s ‘</a:t>
            </a:r>
            <a:r>
              <a:rPr lang="en-US" b="0" i="0" dirty="0" err="1">
                <a:solidFill>
                  <a:srgbClr val="0D0D0D"/>
                </a:solidFill>
                <a:effectLst/>
                <a:highlight>
                  <a:srgbClr val="FFFFFF"/>
                </a:highlight>
                <a:latin typeface="Söhne"/>
              </a:rPr>
              <a:t>numpy</a:t>
            </a:r>
            <a:r>
              <a:rPr lang="en-US" b="0" i="0" dirty="0">
                <a:solidFill>
                  <a:srgbClr val="0D0D0D"/>
                </a:solidFill>
                <a:effectLst/>
                <a:highlight>
                  <a:srgbClr val="FFFFFF"/>
                </a:highlight>
                <a:latin typeface="Söhne"/>
              </a:rPr>
              <a:t>’ module to detect these missing values within the dataset.</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By identifying </a:t>
            </a:r>
            <a:r>
              <a:rPr lang="en-US" b="0" i="0" dirty="0" err="1">
                <a:solidFill>
                  <a:srgbClr val="0D0D0D"/>
                </a:solidFill>
                <a:effectLst/>
                <a:highlight>
                  <a:srgbClr val="FFFFFF"/>
                </a:highlight>
                <a:latin typeface="Söhne"/>
              </a:rPr>
              <a:t>NaN</a:t>
            </a:r>
            <a:r>
              <a:rPr lang="en-US" b="0" i="0" dirty="0">
                <a:solidFill>
                  <a:srgbClr val="0D0D0D"/>
                </a:solidFill>
                <a:effectLst/>
                <a:highlight>
                  <a:srgbClr val="FFFFFF"/>
                </a:highlight>
                <a:latin typeface="Söhne"/>
              </a:rPr>
              <a:t> (not a number) values, </a:t>
            </a:r>
          </a:p>
          <a:p>
            <a:pPr algn="l"/>
            <a:r>
              <a:rPr lang="en-US" b="0" i="0" dirty="0">
                <a:solidFill>
                  <a:srgbClr val="0D0D0D"/>
                </a:solidFill>
                <a:effectLst/>
                <a:highlight>
                  <a:srgbClr val="FFFFFF"/>
                </a:highlight>
                <a:latin typeface="Söhne"/>
              </a:rPr>
              <a:t>I was able to filter out rows containing missing data, </a:t>
            </a:r>
          </a:p>
          <a:p>
            <a:pPr algn="l"/>
            <a:r>
              <a:rPr lang="en-US" b="0" i="0" dirty="0">
                <a:solidFill>
                  <a:srgbClr val="0D0D0D"/>
                </a:solidFill>
                <a:effectLst/>
                <a:highlight>
                  <a:srgbClr val="FFFFFF"/>
                </a:highlight>
                <a:latin typeface="Söhne"/>
              </a:rPr>
              <a:t>thereby ensuring the integrity and reliability of the dataset for further analysis. </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This meticulous approach helped in maintaining data quality and accuracy throughout the research process.</a:t>
            </a:r>
          </a:p>
          <a:p>
            <a:endParaRPr lang="en-US" dirty="0"/>
          </a:p>
          <a:p>
            <a:endParaRPr lang="en-US" dirty="0"/>
          </a:p>
          <a:p>
            <a:r>
              <a:rPr lang="en-US" dirty="0" err="1"/>
              <a:t>NaN</a:t>
            </a:r>
            <a:r>
              <a:rPr lang="en-US" dirty="0"/>
              <a:t>: NOT A NUMBER</a:t>
            </a:r>
          </a:p>
          <a:p>
            <a:endParaRPr lang="en-US" dirty="0"/>
          </a:p>
          <a:p>
            <a:r>
              <a:rPr lang="en-US" dirty="0"/>
              <a:t>*Np comes from the </a:t>
            </a:r>
            <a:r>
              <a:rPr lang="en-US" dirty="0" err="1"/>
              <a:t>numpy</a:t>
            </a:r>
            <a:r>
              <a:rPr lang="en-US" dirty="0"/>
              <a:t> module in python</a:t>
            </a:r>
          </a:p>
        </p:txBody>
      </p:sp>
      <p:sp>
        <p:nvSpPr>
          <p:cNvPr id="4" name="Slide Number Placeholder 3"/>
          <p:cNvSpPr>
            <a:spLocks noGrp="1"/>
          </p:cNvSpPr>
          <p:nvPr>
            <p:ph type="sldNum" sz="quarter" idx="5"/>
          </p:nvPr>
        </p:nvSpPr>
        <p:spPr/>
        <p:txBody>
          <a:bodyPr/>
          <a:lstStyle/>
          <a:p>
            <a:fld id="{98F5A755-B519-B142-8B54-0B714434C258}" type="slidenum">
              <a:rPr lang="en-US" smtClean="0"/>
              <a:t>7</a:t>
            </a:fld>
            <a:endParaRPr lang="en-US"/>
          </a:p>
        </p:txBody>
      </p:sp>
    </p:spTree>
    <p:extLst>
      <p:ext uri="{BB962C8B-B14F-4D97-AF65-F5344CB8AC3E}">
        <p14:creationId xmlns:p14="http://schemas.microsoft.com/office/powerpoint/2010/main" val="36704718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D0D0D"/>
                </a:solidFill>
                <a:effectLst/>
                <a:highlight>
                  <a:srgbClr val="FFFFFF"/>
                </a:highlight>
                <a:latin typeface="Söhne"/>
              </a:rPr>
              <a:t>In Figure 1, </a:t>
            </a:r>
          </a:p>
          <a:p>
            <a:r>
              <a:rPr lang="en-US" b="0" i="0" dirty="0">
                <a:solidFill>
                  <a:srgbClr val="0D0D0D"/>
                </a:solidFill>
                <a:effectLst/>
                <a:highlight>
                  <a:srgbClr val="FFFFFF"/>
                </a:highlight>
                <a:latin typeface="Söhne"/>
              </a:rPr>
              <a:t>we have the original dataset displaying life expectancy and homicide rates in their raw form, </a:t>
            </a:r>
          </a:p>
          <a:p>
            <a:r>
              <a:rPr lang="en-US" b="0" i="0" dirty="0">
                <a:solidFill>
                  <a:srgbClr val="0D0D0D"/>
                </a:solidFill>
                <a:effectLst/>
                <a:highlight>
                  <a:srgbClr val="FFFFFF"/>
                </a:highlight>
                <a:latin typeface="Söhne"/>
              </a:rPr>
              <a:t>before any cleaning procedures were undertaken.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This dataset serves as a reference point to illustrate the initial state of the data and elucidate the necessity for data cleaning.</a:t>
            </a:r>
          </a:p>
          <a:p>
            <a:endParaRPr lang="en-US" b="0" i="0" dirty="0">
              <a:solidFill>
                <a:srgbClr val="0D0D0D"/>
              </a:solidFill>
              <a:effectLst/>
              <a:highlight>
                <a:srgbClr val="FFFFFF"/>
              </a:highlight>
              <a:latin typeface="Söhne"/>
            </a:endParaRP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Moving on to Figure 2, </a:t>
            </a:r>
          </a:p>
          <a:p>
            <a:r>
              <a:rPr lang="en-US" b="0" i="0" dirty="0">
                <a:solidFill>
                  <a:srgbClr val="0D0D0D"/>
                </a:solidFill>
                <a:effectLst/>
                <a:highlight>
                  <a:srgbClr val="FFFFFF"/>
                </a:highlight>
                <a:latin typeface="Söhne"/>
              </a:rPr>
              <a:t>we observe a dataset depicting the average life expectancy corresponding to different homicide rates.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Utilizing '</a:t>
            </a:r>
            <a:r>
              <a:rPr lang="en-US" b="0" i="0" dirty="0" err="1">
                <a:solidFill>
                  <a:srgbClr val="0D0D0D"/>
                </a:solidFill>
                <a:effectLst/>
                <a:highlight>
                  <a:srgbClr val="FFFFFF"/>
                </a:highlight>
                <a:latin typeface="Söhne"/>
              </a:rPr>
              <a:t>rate_mean</a:t>
            </a:r>
            <a:r>
              <a:rPr lang="en-US" b="0" i="0" dirty="0">
                <a:solidFill>
                  <a:srgbClr val="0D0D0D"/>
                </a:solidFill>
                <a:effectLst/>
                <a:highlight>
                  <a:srgbClr val="FFFFFF"/>
                </a:highlight>
                <a:latin typeface="Söhne"/>
              </a:rPr>
              <a:t>,’ </a:t>
            </a:r>
          </a:p>
          <a:p>
            <a:r>
              <a:rPr lang="en-US" b="0" i="0" dirty="0">
                <a:solidFill>
                  <a:srgbClr val="0D0D0D"/>
                </a:solidFill>
                <a:effectLst/>
                <a:highlight>
                  <a:srgbClr val="FFFFFF"/>
                </a:highlight>
                <a:latin typeface="Söhne"/>
              </a:rPr>
              <a:t>I derived this dataset to offer insights into the variations in average life expectancy across various homicide rates.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Such insights are valuable for exploring potential correlations or patterns between homicide rates and life expectancy, </a:t>
            </a:r>
          </a:p>
          <a:p>
            <a:r>
              <a:rPr lang="en-US" b="0" i="0" dirty="0">
                <a:solidFill>
                  <a:srgbClr val="0D0D0D"/>
                </a:solidFill>
                <a:effectLst/>
                <a:highlight>
                  <a:srgbClr val="FFFFFF"/>
                </a:highlight>
                <a:latin typeface="Söhne"/>
              </a:rPr>
              <a:t>enabling a deeper understanding of their relationship.</a:t>
            </a:r>
            <a:endParaRPr lang="en-US" dirty="0"/>
          </a:p>
          <a:p>
            <a:endParaRPr lang="en-US" dirty="0"/>
          </a:p>
          <a:p>
            <a:endParaRPr lang="en-US" dirty="0"/>
          </a:p>
          <a:p>
            <a:endParaRPr lang="en-US" dirty="0"/>
          </a:p>
          <a:p>
            <a:endParaRPr lang="en-US" dirty="0"/>
          </a:p>
          <a:p>
            <a:endParaRPr lang="en-US" dirty="0"/>
          </a:p>
          <a:p>
            <a:r>
              <a:rPr lang="en-US" dirty="0"/>
              <a:t>Figure 1</a:t>
            </a:r>
          </a:p>
          <a:p>
            <a:pPr marL="628650" lvl="1" indent="-171450">
              <a:buFontTx/>
              <a:buChar char="-"/>
            </a:pPr>
            <a:r>
              <a:rPr lang="en-US" dirty="0"/>
              <a:t>Shows the original data set with Life expectancy and homicide rate</a:t>
            </a:r>
          </a:p>
          <a:p>
            <a:pPr marL="628650" lvl="1" indent="-171450">
              <a:buFontTx/>
              <a:buChar char="-"/>
            </a:pPr>
            <a:r>
              <a:rPr lang="en-US" dirty="0"/>
              <a:t>This dataset is before I cleaned the data</a:t>
            </a:r>
          </a:p>
          <a:p>
            <a:pPr marL="628650" lvl="1" indent="-171450">
              <a:buFontTx/>
              <a:buChar char="-"/>
            </a:pPr>
            <a:r>
              <a:rPr lang="en-US" dirty="0"/>
              <a:t>Showed this so that I could show the original data and why I needed to clean it</a:t>
            </a:r>
          </a:p>
          <a:p>
            <a:pPr marL="628650" lvl="1" indent="-171450">
              <a:buFontTx/>
              <a:buChar char="-"/>
            </a:pPr>
            <a:endParaRPr lang="en-US" dirty="0"/>
          </a:p>
          <a:p>
            <a:pPr marL="171450" lvl="0" indent="-171450">
              <a:buFontTx/>
              <a:buChar char="-"/>
            </a:pPr>
            <a:r>
              <a:rPr lang="en-US" dirty="0"/>
              <a:t>Figure 2</a:t>
            </a:r>
          </a:p>
          <a:p>
            <a:pPr marL="628650" lvl="1" indent="-171450">
              <a:buFontTx/>
              <a:buChar char="-"/>
            </a:pPr>
            <a:r>
              <a:rPr lang="en-US" dirty="0"/>
              <a:t>This dataset shows the average life expectancy per homicide rate</a:t>
            </a:r>
          </a:p>
          <a:p>
            <a:pPr marL="628650" lvl="1" indent="-171450">
              <a:buFontTx/>
              <a:buChar char="-"/>
            </a:pPr>
            <a:r>
              <a:rPr lang="en-US" dirty="0"/>
              <a:t>I used ‘</a:t>
            </a:r>
            <a:r>
              <a:rPr lang="en-US" dirty="0" err="1"/>
              <a:t>rate_mean</a:t>
            </a:r>
            <a:r>
              <a:rPr lang="en-US" dirty="0"/>
              <a:t>’ to provide insights into how average life expectancy varies across different homicide rates</a:t>
            </a:r>
          </a:p>
          <a:p>
            <a:pPr marL="628650" lvl="1" indent="-171450">
              <a:buFontTx/>
              <a:buChar char="-"/>
            </a:pPr>
            <a:r>
              <a:rPr lang="en-US" dirty="0"/>
              <a:t>This can be useful for analyzing potential correlations or patterns between homicide rates and life expectancy</a:t>
            </a:r>
          </a:p>
          <a:p>
            <a:pPr marL="171450" indent="-171450">
              <a:buFontTx/>
              <a:buChar char="-"/>
            </a:pPr>
            <a:endParaRPr lang="en-US"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98F5A755-B519-B142-8B54-0B714434C258}" type="slidenum">
              <a:rPr lang="en-US" smtClean="0"/>
              <a:t>8</a:t>
            </a:fld>
            <a:endParaRPr lang="en-US"/>
          </a:p>
        </p:txBody>
      </p:sp>
    </p:spTree>
    <p:extLst>
      <p:ext uri="{BB962C8B-B14F-4D97-AF65-F5344CB8AC3E}">
        <p14:creationId xmlns:p14="http://schemas.microsoft.com/office/powerpoint/2010/main" val="25047348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In Figure 3, </a:t>
            </a:r>
          </a:p>
          <a:p>
            <a:r>
              <a:rPr lang="en-US" dirty="0">
                <a:effectLst/>
              </a:rPr>
              <a:t>we have a histogram comparing homicide rates and life expectancy, </a:t>
            </a:r>
          </a:p>
          <a:p>
            <a:r>
              <a:rPr lang="en-US" dirty="0">
                <a:effectLst/>
              </a:rPr>
              <a:t>where homicide rate is plotted on the y-axis and life expectancy on the x-axis. </a:t>
            </a:r>
          </a:p>
          <a:p>
            <a:endParaRPr lang="en-US" dirty="0">
              <a:effectLst/>
            </a:endParaRPr>
          </a:p>
          <a:p>
            <a:r>
              <a:rPr lang="en-US" dirty="0">
                <a:effectLst/>
              </a:rPr>
              <a:t>This visualization offers insights into how homicide rates impact life expectancy. </a:t>
            </a:r>
          </a:p>
          <a:p>
            <a:endParaRPr lang="en-US" dirty="0">
              <a:effectLst/>
            </a:endParaRPr>
          </a:p>
          <a:p>
            <a:r>
              <a:rPr lang="en-US" dirty="0">
                <a:effectLst/>
              </a:rPr>
              <a:t>The darker bins represent a higher concentration of data points within that bin. </a:t>
            </a:r>
          </a:p>
          <a:p>
            <a:endParaRPr lang="en-US" dirty="0">
              <a:effectLst/>
            </a:endParaRPr>
          </a:p>
          <a:p>
            <a:r>
              <a:rPr lang="en-US" dirty="0">
                <a:effectLst/>
              </a:rPr>
              <a:t>Upon initial observation, </a:t>
            </a:r>
          </a:p>
          <a:p>
            <a:r>
              <a:rPr lang="en-US" dirty="0">
                <a:effectLst/>
              </a:rPr>
              <a:t>the histogram suggests a moderate correlation between life expectancy and homicide rate, with a negative correlation implying that higher homicide rates are associated with lower life expectancy.</a:t>
            </a:r>
          </a:p>
          <a:p>
            <a:endParaRPr lang="en-US" dirty="0">
              <a:effectLst/>
            </a:endParaRPr>
          </a:p>
          <a:p>
            <a:r>
              <a:rPr lang="en-US" dirty="0">
                <a:effectLst/>
              </a:rPr>
              <a:t>Transitioning to Figure 4, </a:t>
            </a:r>
          </a:p>
          <a:p>
            <a:r>
              <a:rPr lang="en-US" dirty="0">
                <a:effectLst/>
              </a:rPr>
              <a:t>we observe a histogram featuring a line of best fit. </a:t>
            </a:r>
          </a:p>
          <a:p>
            <a:endParaRPr lang="en-US" dirty="0">
              <a:effectLst/>
            </a:endParaRPr>
          </a:p>
          <a:p>
            <a:r>
              <a:rPr lang="en-US" dirty="0">
                <a:effectLst/>
              </a:rPr>
              <a:t>The downward slope of the line reaffirms our hypothesis of a moderate negative correlation between homicide rate and life expectancy. </a:t>
            </a:r>
          </a:p>
          <a:p>
            <a:endParaRPr lang="en-US" dirty="0">
              <a:effectLst/>
            </a:endParaRPr>
          </a:p>
          <a:p>
            <a:r>
              <a:rPr lang="en-US" dirty="0">
                <a:effectLst/>
              </a:rPr>
              <a:t>It suggests that as life expectancy increases, </a:t>
            </a:r>
          </a:p>
          <a:p>
            <a:r>
              <a:rPr lang="en-US" dirty="0">
                <a:effectLst/>
              </a:rPr>
              <a:t>homicide rate decreases. </a:t>
            </a:r>
          </a:p>
          <a:p>
            <a:endParaRPr lang="en-US" dirty="0">
              <a:effectLst/>
            </a:endParaRPr>
          </a:p>
          <a:p>
            <a:r>
              <a:rPr lang="en-US" dirty="0">
                <a:effectLst/>
              </a:rPr>
              <a:t>The steepness of the slope serves as an indicator of correlation strength, </a:t>
            </a:r>
          </a:p>
          <a:p>
            <a:r>
              <a:rPr lang="en-US" dirty="0">
                <a:effectLst/>
              </a:rPr>
              <a:t>with steeper slopes indicating stronger correlations. </a:t>
            </a:r>
          </a:p>
          <a:p>
            <a:endParaRPr lang="en-US" dirty="0">
              <a:effectLst/>
            </a:endParaRPr>
          </a:p>
          <a:p>
            <a:r>
              <a:rPr lang="en-US" dirty="0">
                <a:effectLst/>
              </a:rPr>
              <a:t>In this case, </a:t>
            </a:r>
          </a:p>
          <a:p>
            <a:r>
              <a:rPr lang="en-US" dirty="0">
                <a:effectLst/>
              </a:rPr>
              <a:t>the slope of -1.9 suggests a moderate to weak correlation between homicide rate and life expectancy.</a:t>
            </a:r>
          </a:p>
          <a:p>
            <a:pPr algn="l"/>
            <a:br>
              <a:rPr lang="en-US" b="0" i="0" dirty="0">
                <a:solidFill>
                  <a:srgbClr val="000000"/>
                </a:solidFill>
                <a:effectLst/>
                <a:highlight>
                  <a:srgbClr val="FFFFFF"/>
                </a:highlight>
                <a:latin typeface="Söhne"/>
              </a:rPr>
            </a:br>
            <a:endParaRPr lang="en-US" b="0" i="0" dirty="0">
              <a:solidFill>
                <a:srgbClr val="000000"/>
              </a:solidFill>
              <a:effectLst/>
              <a:highlight>
                <a:srgbClr val="FFFFFF"/>
              </a:highlight>
              <a:latin typeface="Söhne"/>
            </a:endParaRPr>
          </a:p>
          <a:p>
            <a:endParaRPr lang="en-US" dirty="0"/>
          </a:p>
          <a:p>
            <a:endParaRPr lang="en-US" dirty="0"/>
          </a:p>
          <a:p>
            <a:endParaRPr lang="en-US" dirty="0"/>
          </a:p>
          <a:p>
            <a:r>
              <a:rPr lang="en-US" dirty="0"/>
              <a:t> Figure 3</a:t>
            </a:r>
          </a:p>
          <a:p>
            <a:pPr marL="628650" lvl="1" indent="-171450">
              <a:buFontTx/>
              <a:buChar char="-"/>
            </a:pPr>
            <a:r>
              <a:rPr lang="en-US" dirty="0"/>
              <a:t>This shows a histogram that compares homicide rates and life expectancy</a:t>
            </a:r>
          </a:p>
          <a:p>
            <a:pPr marL="628650" lvl="1" indent="-171450">
              <a:buFontTx/>
              <a:buChar char="-"/>
            </a:pPr>
            <a:r>
              <a:rPr lang="en-US" dirty="0"/>
              <a:t>Homicide rate is on the y-axis</a:t>
            </a:r>
          </a:p>
          <a:p>
            <a:pPr marL="628650" lvl="1" indent="-171450">
              <a:buFontTx/>
              <a:buChar char="-"/>
            </a:pPr>
            <a:r>
              <a:rPr lang="en-US" dirty="0"/>
              <a:t>Life expectancy is the x-axis</a:t>
            </a:r>
          </a:p>
          <a:p>
            <a:pPr marL="628650" lvl="1" indent="-171450">
              <a:buFontTx/>
              <a:buChar char="-"/>
            </a:pPr>
            <a:r>
              <a:rPr lang="en-US" dirty="0"/>
              <a:t>This histogram gives us a good look at how homicide rates affect the life expectancy</a:t>
            </a:r>
          </a:p>
          <a:p>
            <a:pPr marL="628650" lvl="1" indent="-171450">
              <a:buFontTx/>
              <a:buChar char="-"/>
            </a:pPr>
            <a:r>
              <a:rPr lang="en-US" dirty="0"/>
              <a:t>The darker bins signify more data points within that bin</a:t>
            </a:r>
          </a:p>
          <a:p>
            <a:pPr marL="1085850" lvl="2" indent="-171450">
              <a:buFontTx/>
              <a:buChar char="-"/>
            </a:pPr>
            <a:r>
              <a:rPr lang="en-US" dirty="0"/>
              <a:t>At first glance the histogram seems to show a moderate correlation between life expectancy and homicide rate</a:t>
            </a:r>
          </a:p>
          <a:p>
            <a:pPr marL="1085850" lvl="2" indent="-171450">
              <a:buFontTx/>
              <a:buChar char="-"/>
            </a:pPr>
            <a:r>
              <a:rPr lang="en-US" dirty="0"/>
              <a:t>The correlation appears to be negative meaning: the higher the homicide rate the lower the life expectancy</a:t>
            </a:r>
          </a:p>
          <a:p>
            <a:pPr marL="628650" lvl="1" indent="-171450">
              <a:buFontTx/>
              <a:buChar char="-"/>
            </a:pPr>
            <a:endParaRPr lang="en-US" dirty="0"/>
          </a:p>
          <a:p>
            <a:pPr marL="171450" lvl="0" indent="-171450">
              <a:buFontTx/>
              <a:buChar char="-"/>
            </a:pPr>
            <a:r>
              <a:rPr lang="en-US" dirty="0"/>
              <a:t>Figure 4</a:t>
            </a:r>
          </a:p>
          <a:p>
            <a:pPr marL="628650" lvl="1" indent="-171450">
              <a:buFontTx/>
              <a:buChar char="-"/>
            </a:pPr>
            <a:r>
              <a:rPr lang="en-US" dirty="0"/>
              <a:t>This histogram shows a line of best fit</a:t>
            </a:r>
          </a:p>
          <a:p>
            <a:pPr marL="628650" lvl="1" indent="-171450">
              <a:buFontTx/>
              <a:buChar char="-"/>
            </a:pPr>
            <a:r>
              <a:rPr lang="en-US" dirty="0"/>
              <a:t>Line of best fit slopes downwards which reaffirms our theory that there is a moderate negative correlation between homicide rate and life expectancy</a:t>
            </a:r>
          </a:p>
          <a:p>
            <a:pPr marL="1085850" lvl="2" indent="-171450">
              <a:buFontTx/>
              <a:buChar char="-"/>
            </a:pPr>
            <a:r>
              <a:rPr lang="en-US" dirty="0"/>
              <a:t>Indicates as life expectancy increases, homicide rate decreases</a:t>
            </a:r>
          </a:p>
          <a:p>
            <a:pPr marL="1085850" lvl="2" indent="-171450">
              <a:buFontTx/>
              <a:buChar char="-"/>
            </a:pPr>
            <a:r>
              <a:rPr lang="en-US" dirty="0"/>
              <a:t>Steepness of the slope is telling</a:t>
            </a:r>
          </a:p>
          <a:p>
            <a:pPr marL="1543050" lvl="3" indent="-171450">
              <a:buFontTx/>
              <a:buChar char="-"/>
            </a:pPr>
            <a:r>
              <a:rPr lang="en-US" dirty="0"/>
              <a:t>Steeper indicates more correlation</a:t>
            </a:r>
          </a:p>
          <a:p>
            <a:pPr marL="1543050" lvl="3" indent="-171450">
              <a:buFontTx/>
              <a:buChar char="-"/>
            </a:pPr>
            <a:r>
              <a:rPr lang="en-US" dirty="0"/>
              <a:t>This slope is -1.9 which only indicates moderate to weak correlation</a:t>
            </a:r>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98F5A755-B519-B142-8B54-0B714434C258}" type="slidenum">
              <a:rPr lang="en-US" smtClean="0"/>
              <a:t>9</a:t>
            </a:fld>
            <a:endParaRPr lang="en-US"/>
          </a:p>
        </p:txBody>
      </p:sp>
    </p:spTree>
    <p:extLst>
      <p:ext uri="{BB962C8B-B14F-4D97-AF65-F5344CB8AC3E}">
        <p14:creationId xmlns:p14="http://schemas.microsoft.com/office/powerpoint/2010/main" val="26985040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D0D0D"/>
                </a:solidFill>
                <a:effectLst/>
                <a:highlight>
                  <a:srgbClr val="FFFFFF"/>
                </a:highlight>
                <a:latin typeface="Söhne"/>
              </a:rPr>
              <a:t>In this histogram, </a:t>
            </a:r>
          </a:p>
          <a:p>
            <a:r>
              <a:rPr lang="en-US" b="0" i="0" dirty="0">
                <a:solidFill>
                  <a:srgbClr val="0D0D0D"/>
                </a:solidFill>
                <a:effectLst/>
                <a:highlight>
                  <a:srgbClr val="FFFFFF"/>
                </a:highlight>
                <a:latin typeface="Söhne"/>
              </a:rPr>
              <a:t>we aimed to evaluate the distribution of differences between group means.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Each bar represents a range of differences, </a:t>
            </a:r>
          </a:p>
          <a:p>
            <a:r>
              <a:rPr lang="en-US" b="0" i="0" dirty="0">
                <a:solidFill>
                  <a:srgbClr val="0D0D0D"/>
                </a:solidFill>
                <a:effectLst/>
                <a:highlight>
                  <a:srgbClr val="FFFFFF"/>
                </a:highlight>
                <a:latin typeface="Söhne"/>
              </a:rPr>
              <a:t>with the height indicating the frequency of observations falling within that range.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If the histogram displays a symmetric non-random pattern, </a:t>
            </a:r>
          </a:p>
          <a:p>
            <a:r>
              <a:rPr lang="en-US" b="0" i="0" dirty="0">
                <a:solidFill>
                  <a:srgbClr val="0D0D0D"/>
                </a:solidFill>
                <a:effectLst/>
                <a:highlight>
                  <a:srgbClr val="FFFFFF"/>
                </a:highlight>
                <a:latin typeface="Söhne"/>
              </a:rPr>
              <a:t>it suggests that the differences between group means occur by random chance, </a:t>
            </a:r>
          </a:p>
          <a:p>
            <a:r>
              <a:rPr lang="en-US" b="0" i="0" dirty="0">
                <a:solidFill>
                  <a:srgbClr val="0D0D0D"/>
                </a:solidFill>
                <a:effectLst/>
                <a:highlight>
                  <a:srgbClr val="FFFFFF"/>
                </a:highlight>
                <a:latin typeface="Söhne"/>
              </a:rPr>
              <a:t>indicating a lack of statistical significance.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Additionally, </a:t>
            </a:r>
          </a:p>
          <a:p>
            <a:r>
              <a:rPr lang="en-US" b="0" i="0" dirty="0">
                <a:solidFill>
                  <a:srgbClr val="0D0D0D"/>
                </a:solidFill>
                <a:effectLst/>
                <a:highlight>
                  <a:srgbClr val="FFFFFF"/>
                </a:highlight>
                <a:latin typeface="Söhne"/>
              </a:rPr>
              <a:t>you'll notice a red dot within the histogram, </a:t>
            </a:r>
          </a:p>
          <a:p>
            <a:r>
              <a:rPr lang="en-US" b="0" i="0" dirty="0">
                <a:solidFill>
                  <a:srgbClr val="0D0D0D"/>
                </a:solidFill>
                <a:effectLst/>
                <a:highlight>
                  <a:srgbClr val="FFFFFF"/>
                </a:highlight>
                <a:latin typeface="Söhne"/>
              </a:rPr>
              <a:t>representing the observed difference between group means.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If the dot is positioned farther out on the tails of the histogram, </a:t>
            </a:r>
          </a:p>
          <a:p>
            <a:r>
              <a:rPr lang="en-US" b="0" i="0" dirty="0">
                <a:solidFill>
                  <a:srgbClr val="0D0D0D"/>
                </a:solidFill>
                <a:effectLst/>
                <a:highlight>
                  <a:srgbClr val="FFFFFF"/>
                </a:highlight>
                <a:latin typeface="Söhne"/>
              </a:rPr>
              <a:t>it suggests a higher degree of correlation beyond random chance.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However, in this case, the dot appears near the middle, </a:t>
            </a:r>
          </a:p>
          <a:p>
            <a:r>
              <a:rPr lang="en-US" b="0" i="0" dirty="0">
                <a:solidFill>
                  <a:srgbClr val="0D0D0D"/>
                </a:solidFill>
                <a:effectLst/>
                <a:highlight>
                  <a:srgbClr val="FFFFFF"/>
                </a:highlight>
                <a:latin typeface="Söhne"/>
              </a:rPr>
              <a:t>indicating that the observed difference is more typical and may not be statistically significant.</a:t>
            </a:r>
            <a:endParaRPr lang="en-US" dirty="0"/>
          </a:p>
          <a:p>
            <a:endParaRPr lang="en-US" dirty="0"/>
          </a:p>
          <a:p>
            <a:endParaRPr lang="en-US" dirty="0"/>
          </a:p>
          <a:p>
            <a:endParaRPr lang="en-US" dirty="0"/>
          </a:p>
          <a:p>
            <a:r>
              <a:rPr lang="en-US" dirty="0"/>
              <a:t>Created this histogram</a:t>
            </a:r>
          </a:p>
          <a:p>
            <a:pPr marL="171450" indent="-171450">
              <a:buFontTx/>
              <a:buChar char="-"/>
            </a:pPr>
            <a:r>
              <a:rPr lang="en-US" dirty="0"/>
              <a:t>To assess and visualize the distribution of differences between those group means</a:t>
            </a:r>
          </a:p>
          <a:p>
            <a:pPr marL="171450" indent="-171450">
              <a:buFontTx/>
              <a:buChar char="-"/>
            </a:pPr>
            <a:r>
              <a:rPr lang="en-US" dirty="0"/>
              <a:t>Each bar represents a range of differences and the height of each bar indicates frequency of observations falling within that range of differences</a:t>
            </a:r>
          </a:p>
          <a:p>
            <a:pPr marL="171450" indent="-171450">
              <a:buFontTx/>
              <a:buChar char="-"/>
            </a:pPr>
            <a:r>
              <a:rPr lang="en-US" dirty="0"/>
              <a:t>If it is organized in a symmetric non-random pattern</a:t>
            </a:r>
          </a:p>
          <a:p>
            <a:pPr marL="628650" lvl="1" indent="-171450">
              <a:buFontTx/>
              <a:buChar char="-"/>
            </a:pPr>
            <a:r>
              <a:rPr lang="en-US" dirty="0"/>
              <a:t>Would indicate the differences per group are by random chance</a:t>
            </a:r>
          </a:p>
          <a:p>
            <a:pPr marL="628650" lvl="1" indent="-171450">
              <a:buFontTx/>
              <a:buChar char="-"/>
            </a:pPr>
            <a:r>
              <a:rPr lang="en-US" dirty="0"/>
              <a:t>That means they would not be statistically significant</a:t>
            </a:r>
          </a:p>
          <a:p>
            <a:pPr marL="628650" lvl="1" indent="-171450">
              <a:buFontTx/>
              <a:buChar char="-"/>
            </a:pPr>
            <a:endParaRPr lang="en-US" dirty="0"/>
          </a:p>
          <a:p>
            <a:pPr marL="171450" lvl="0" indent="-171450">
              <a:buFontTx/>
              <a:buChar char="-"/>
            </a:pPr>
            <a:r>
              <a:rPr lang="en-US" dirty="0"/>
              <a:t>Also contains red dot</a:t>
            </a:r>
          </a:p>
          <a:p>
            <a:pPr marL="628650" lvl="1" indent="-171450">
              <a:buFontTx/>
              <a:buChar char="-"/>
            </a:pPr>
            <a:r>
              <a:rPr lang="en-US" dirty="0"/>
              <a:t>Represents the observed difference between group means</a:t>
            </a:r>
          </a:p>
          <a:p>
            <a:pPr marL="628650" lvl="1" indent="-171450">
              <a:buFontTx/>
              <a:buChar char="-"/>
            </a:pPr>
            <a:r>
              <a:rPr lang="en-US" dirty="0"/>
              <a:t>If the dot is farther out on the tails, that would indicate there is more correlation than just random chance</a:t>
            </a:r>
          </a:p>
          <a:p>
            <a:pPr marL="628650" lvl="1" indent="-171450">
              <a:buFontTx/>
              <a:buChar char="-"/>
            </a:pPr>
            <a:r>
              <a:rPr lang="en-US" dirty="0"/>
              <a:t>In this case: the dot is near the middle which means the observed difference is more typical and may not be statistically significant</a:t>
            </a:r>
          </a:p>
        </p:txBody>
      </p:sp>
      <p:sp>
        <p:nvSpPr>
          <p:cNvPr id="4" name="Slide Number Placeholder 3"/>
          <p:cNvSpPr>
            <a:spLocks noGrp="1"/>
          </p:cNvSpPr>
          <p:nvPr>
            <p:ph type="sldNum" sz="quarter" idx="5"/>
          </p:nvPr>
        </p:nvSpPr>
        <p:spPr/>
        <p:txBody>
          <a:bodyPr/>
          <a:lstStyle/>
          <a:p>
            <a:fld id="{98F5A755-B519-B142-8B54-0B714434C258}" type="slidenum">
              <a:rPr lang="en-US" smtClean="0"/>
              <a:t>10</a:t>
            </a:fld>
            <a:endParaRPr lang="en-US"/>
          </a:p>
        </p:txBody>
      </p:sp>
    </p:spTree>
    <p:extLst>
      <p:ext uri="{BB962C8B-B14F-4D97-AF65-F5344CB8AC3E}">
        <p14:creationId xmlns:p14="http://schemas.microsoft.com/office/powerpoint/2010/main" val="36685116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D0D0D"/>
                </a:solidFill>
                <a:effectLst/>
                <a:highlight>
                  <a:srgbClr val="FFFFFF"/>
                </a:highlight>
                <a:latin typeface="Söhne"/>
              </a:rPr>
              <a:t>In our analysis, </a:t>
            </a:r>
          </a:p>
          <a:p>
            <a:r>
              <a:rPr lang="en-US" b="0" i="0" dirty="0">
                <a:solidFill>
                  <a:srgbClr val="0D0D0D"/>
                </a:solidFill>
                <a:effectLst/>
                <a:highlight>
                  <a:srgbClr val="FFFFFF"/>
                </a:highlight>
                <a:latin typeface="Söhne"/>
              </a:rPr>
              <a:t>we adopted a Frequentist approach to address two primary questions. </a:t>
            </a:r>
          </a:p>
          <a:p>
            <a:r>
              <a:rPr lang="en-US" b="0" i="0" dirty="0">
                <a:solidFill>
                  <a:srgbClr val="0D0D0D"/>
                </a:solidFill>
                <a:effectLst/>
                <a:highlight>
                  <a:srgbClr val="FFFFFF"/>
                </a:highlight>
                <a:latin typeface="Söhne"/>
              </a:rPr>
              <a:t>This approach relies </a:t>
            </a:r>
            <a:r>
              <a:rPr lang="en-US" dirty="0">
                <a:highlight>
                  <a:srgbClr val="FFFFFF"/>
                </a:highlight>
              </a:rPr>
              <a:t>on p-values for statistical inferences instead of  incorporating prior knowledge about parameters being estimated</a:t>
            </a:r>
          </a:p>
          <a:p>
            <a:endParaRPr lang="en-US" b="0" i="0" dirty="0">
              <a:solidFill>
                <a:srgbClr val="0D0D0D"/>
              </a:solidFill>
              <a:effectLst/>
              <a:highlight>
                <a:srgbClr val="FFFFFF"/>
              </a:highlight>
              <a:latin typeface="Söhne"/>
            </a:endParaRPr>
          </a:p>
          <a:p>
            <a:endParaRPr lang="en-US" b="0" i="0" dirty="0">
              <a:solidFill>
                <a:srgbClr val="0D0D0D"/>
              </a:solidFill>
              <a:effectLst/>
              <a:highlight>
                <a:srgbClr val="FFFFFF"/>
              </a:highlight>
              <a:latin typeface="Söhne"/>
            </a:endParaRP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Firstly, </a:t>
            </a:r>
          </a:p>
          <a:p>
            <a:r>
              <a:rPr lang="en-US" b="0" i="0" dirty="0">
                <a:solidFill>
                  <a:srgbClr val="0D0D0D"/>
                </a:solidFill>
                <a:effectLst/>
                <a:highlight>
                  <a:srgbClr val="FFFFFF"/>
                </a:highlight>
                <a:latin typeface="Söhne"/>
              </a:rPr>
              <a:t>we categorized states into two groups based on Median Income and gathered a test statistic to evaluate the relationship. </a:t>
            </a:r>
          </a:p>
          <a:p>
            <a:r>
              <a:rPr lang="en-US" b="0" i="0" dirty="0">
                <a:solidFill>
                  <a:srgbClr val="0D0D0D"/>
                </a:solidFill>
                <a:effectLst/>
                <a:highlight>
                  <a:srgbClr val="FFFFFF"/>
                </a:highlight>
                <a:latin typeface="Söhne"/>
              </a:rPr>
              <a:t>This test statistic </a:t>
            </a:r>
            <a:r>
              <a:rPr lang="en-US" dirty="0">
                <a:highlight>
                  <a:srgbClr val="FFFFFF"/>
                </a:highlight>
              </a:rPr>
              <a:t>observed the difference in average homicide rate between states with median incomes above $50,000 and those below or equal to $50,000</a:t>
            </a:r>
            <a:endParaRPr lang="en-US" b="0" i="0" dirty="0">
              <a:solidFill>
                <a:srgbClr val="0D0D0D"/>
              </a:solidFill>
              <a:effectLst/>
              <a:highlight>
                <a:srgbClr val="FFFFFF"/>
              </a:highlight>
              <a:latin typeface="Söhne"/>
            </a:endParaRP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We then determined the p-value using both permutation and bootstrap tests.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Similarly, for our second question, </a:t>
            </a:r>
          </a:p>
          <a:p>
            <a:r>
              <a:rPr lang="en-US" b="0" i="0" dirty="0">
                <a:solidFill>
                  <a:srgbClr val="0D0D0D"/>
                </a:solidFill>
                <a:effectLst/>
                <a:highlight>
                  <a:srgbClr val="FFFFFF"/>
                </a:highlight>
                <a:latin typeface="Söhne"/>
              </a:rPr>
              <a:t>we categorized states based on Homicide rates, </a:t>
            </a:r>
          </a:p>
          <a:p>
            <a:r>
              <a:rPr lang="en-US" b="0" i="0" dirty="0">
                <a:solidFill>
                  <a:srgbClr val="0D0D0D"/>
                </a:solidFill>
                <a:effectLst/>
                <a:highlight>
                  <a:srgbClr val="FFFFFF"/>
                </a:highlight>
                <a:latin typeface="Söhne"/>
              </a:rPr>
              <a:t>collected a test statistic </a:t>
            </a:r>
          </a:p>
          <a:p>
            <a:r>
              <a:rPr lang="en-US" b="0" i="0" dirty="0">
                <a:solidFill>
                  <a:srgbClr val="0D0D0D"/>
                </a:solidFill>
                <a:effectLst/>
                <a:highlight>
                  <a:srgbClr val="FFFFFF"/>
                </a:highlight>
                <a:latin typeface="Söhne"/>
              </a:rPr>
              <a:t>and performed p-value determination using the same tests.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D0D0D"/>
                </a:solidFill>
                <a:effectLst/>
                <a:highlight>
                  <a:srgbClr val="FFFFFF"/>
                </a:highlight>
                <a:latin typeface="Söhne"/>
              </a:rPr>
              <a:t>This test statistic </a:t>
            </a:r>
            <a:r>
              <a:rPr lang="en-US" dirty="0">
                <a:highlight>
                  <a:srgbClr val="FFFFFF"/>
                </a:highlight>
              </a:rPr>
              <a:t>observed difference in life expectancy between states with a homicide rate above 5 and those below or equal to 5</a:t>
            </a:r>
          </a:p>
          <a:p>
            <a:endParaRPr lang="en-US" b="0" i="0" dirty="0">
              <a:solidFill>
                <a:srgbClr val="0D0D0D"/>
              </a:solidFill>
              <a:effectLst/>
              <a:highlight>
                <a:srgbClr val="FFFFFF"/>
              </a:highlight>
              <a:latin typeface="Söhne"/>
            </a:endParaRP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The permutation test was instrumental in comparing group means and assessing relationships between variables like median income and homicide rate. </a:t>
            </a:r>
          </a:p>
          <a:p>
            <a:endParaRPr lang="en-US" b="0" i="0" dirty="0">
              <a:solidFill>
                <a:srgbClr val="0D0D0D"/>
              </a:solidFill>
              <a:effectLst/>
              <a:highlight>
                <a:srgbClr val="FFFFFF"/>
              </a:highlight>
              <a:latin typeface="Söhne"/>
            </a:endParaRPr>
          </a:p>
          <a:p>
            <a:r>
              <a:rPr lang="en-US" b="0" i="0" dirty="0">
                <a:solidFill>
                  <a:srgbClr val="0D0D0D"/>
                </a:solidFill>
                <a:effectLst/>
                <a:highlight>
                  <a:srgbClr val="FFFFFF"/>
                </a:highlight>
                <a:latin typeface="Söhne"/>
              </a:rPr>
              <a:t>Meanwhile, the bootstrap test helped us gauge the variability of statistics, </a:t>
            </a:r>
          </a:p>
          <a:p>
            <a:r>
              <a:rPr lang="en-US" b="0" i="0" dirty="0">
                <a:solidFill>
                  <a:srgbClr val="0D0D0D"/>
                </a:solidFill>
                <a:effectLst/>
                <a:highlight>
                  <a:srgbClr val="FFFFFF"/>
                </a:highlight>
                <a:latin typeface="Söhne"/>
              </a:rPr>
              <a:t>with a specific focus on means.</a:t>
            </a:r>
            <a:endParaRPr lang="en-US" dirty="0"/>
          </a:p>
          <a:p>
            <a:endParaRPr lang="en-US" dirty="0"/>
          </a:p>
          <a:p>
            <a:endParaRPr lang="en-US" dirty="0"/>
          </a:p>
          <a:p>
            <a:endParaRPr lang="en-US" dirty="0"/>
          </a:p>
          <a:p>
            <a:endParaRPr lang="en-US" dirty="0"/>
          </a:p>
          <a:p>
            <a:r>
              <a:rPr lang="en-US" dirty="0"/>
              <a:t>Freq. Appr: relied on p-values for statistical inferences, not incorporating prior knowledge about parameters being estimated</a:t>
            </a:r>
          </a:p>
          <a:p>
            <a:endParaRPr lang="en-US" dirty="0"/>
          </a:p>
          <a:p>
            <a:r>
              <a:rPr lang="en-US" dirty="0"/>
              <a:t>- Q1:</a:t>
            </a:r>
          </a:p>
          <a:p>
            <a:pPr marL="628650" lvl="1" indent="-171450">
              <a:buFontTx/>
              <a:buChar char="-"/>
            </a:pPr>
            <a:r>
              <a:rPr lang="en-US" dirty="0"/>
              <a:t>Two groups: above $50,000 and below or equal to $50,000</a:t>
            </a:r>
          </a:p>
          <a:p>
            <a:pPr marL="628650" lvl="1" indent="-171450">
              <a:buFontTx/>
              <a:buChar char="-"/>
            </a:pPr>
            <a:r>
              <a:rPr lang="en-US" dirty="0"/>
              <a:t>Test Statistic: observed difference in average homicide rate between states with median incomes above $50,000 and those below or equal to $50,000</a:t>
            </a:r>
          </a:p>
          <a:p>
            <a:pPr marL="171450" lvl="0" indent="-171450">
              <a:buFontTx/>
              <a:buChar char="-"/>
            </a:pPr>
            <a:r>
              <a:rPr lang="en-US" dirty="0"/>
              <a:t>Q2:</a:t>
            </a:r>
          </a:p>
          <a:p>
            <a:pPr marL="628650" lvl="1" indent="-171450">
              <a:buFontTx/>
              <a:buChar char="-"/>
            </a:pPr>
            <a:r>
              <a:rPr lang="en-US" dirty="0"/>
              <a:t>Two Groups: above 5 and below or equal to 5</a:t>
            </a:r>
          </a:p>
          <a:p>
            <a:pPr marL="628650" lvl="1" indent="-171450">
              <a:buFontTx/>
              <a:buChar char="-"/>
            </a:pPr>
            <a:r>
              <a:rPr lang="en-US" dirty="0"/>
              <a:t>Test Statistic: observed difference in life expectancy between states with a homicide rate above 5 and those below or equal to 5</a:t>
            </a:r>
          </a:p>
          <a:p>
            <a:pPr marL="628650" lvl="1" indent="-171450">
              <a:buFontTx/>
              <a:buChar char="-"/>
            </a:pPr>
            <a:endParaRPr lang="en-US" dirty="0"/>
          </a:p>
          <a:p>
            <a:pPr marL="171450" lvl="0" indent="-171450">
              <a:buFontTx/>
              <a:buChar char="-"/>
            </a:pPr>
            <a:r>
              <a:rPr lang="en-US" dirty="0"/>
              <a:t>Permutation test: to compare group means and assess the relationship between variables like median income and homicide rate</a:t>
            </a:r>
          </a:p>
          <a:p>
            <a:pPr marL="171450" lvl="0" indent="-171450">
              <a:buFontTx/>
              <a:buChar char="-"/>
            </a:pPr>
            <a:r>
              <a:rPr lang="en-US" dirty="0"/>
              <a:t>Bootstrap test: used to gauge the variability of statistics, focusing on means</a:t>
            </a:r>
          </a:p>
          <a:p>
            <a:pPr marL="171450" lvl="0" indent="-171450">
              <a:buFontTx/>
              <a:buChar char="-"/>
            </a:pPr>
            <a:endParaRPr lang="en-US" dirty="0"/>
          </a:p>
          <a:p>
            <a:pPr marL="171450" indent="-171450">
              <a:buFontTx/>
              <a:buChar char="-"/>
            </a:pPr>
            <a:endParaRPr lang="en-US" dirty="0"/>
          </a:p>
          <a:p>
            <a:pPr marL="171450" indent="-171450">
              <a:buFontTx/>
              <a:buChar char="-"/>
            </a:pPr>
            <a:endParaRPr lang="en-US"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98F5A755-B519-B142-8B54-0B714434C258}" type="slidenum">
              <a:rPr lang="en-US" smtClean="0"/>
              <a:t>11</a:t>
            </a:fld>
            <a:endParaRPr lang="en-US"/>
          </a:p>
        </p:txBody>
      </p:sp>
    </p:spTree>
    <p:extLst>
      <p:ext uri="{BB962C8B-B14F-4D97-AF65-F5344CB8AC3E}">
        <p14:creationId xmlns:p14="http://schemas.microsoft.com/office/powerpoint/2010/main" val="26587191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0D0D0D"/>
                </a:solidFill>
                <a:effectLst/>
                <a:highlight>
                  <a:srgbClr val="FFFFFF"/>
                </a:highlight>
                <a:latin typeface="Söhne"/>
              </a:rPr>
              <a:t>For our first inquiry, </a:t>
            </a:r>
          </a:p>
          <a:p>
            <a:pPr algn="l"/>
            <a:r>
              <a:rPr lang="en-US" b="0" i="0" dirty="0">
                <a:solidFill>
                  <a:srgbClr val="0D0D0D"/>
                </a:solidFill>
                <a:effectLst/>
                <a:highlight>
                  <a:srgbClr val="FFFFFF"/>
                </a:highlight>
                <a:latin typeface="Söhne"/>
              </a:rPr>
              <a:t>the correlation between median household income and homicide rates per state produced a p-value of 0.9812. </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Given a 5% p-value cutoff, </a:t>
            </a:r>
          </a:p>
          <a:p>
            <a:pPr algn="l"/>
            <a:r>
              <a:rPr lang="en-US" b="0" i="0" dirty="0">
                <a:solidFill>
                  <a:srgbClr val="0D0D0D"/>
                </a:solidFill>
                <a:effectLst/>
                <a:highlight>
                  <a:srgbClr val="FFFFFF"/>
                </a:highlight>
                <a:latin typeface="Söhne"/>
              </a:rPr>
              <a:t>we failed to reject the null hypothesis. </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This suggests there's no direct correlation between poverty level and homicide rates.</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Moving to our second question, </a:t>
            </a:r>
          </a:p>
          <a:p>
            <a:pPr algn="l"/>
            <a:r>
              <a:rPr lang="en-US" b="0" i="0" dirty="0">
                <a:solidFill>
                  <a:srgbClr val="0D0D0D"/>
                </a:solidFill>
                <a:effectLst/>
                <a:highlight>
                  <a:srgbClr val="FFFFFF"/>
                </a:highlight>
                <a:latin typeface="Söhne"/>
              </a:rPr>
              <a:t>the correlation between homicide rates and life expectancy per state resulted in a p-value of 0.6564. </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Once again, we failed to reject the null hypothesis at a 5% p-value cutoff. </a:t>
            </a: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This indicates no direct correlation between homicide rates and life expectancy.</a:t>
            </a:r>
          </a:p>
          <a:p>
            <a:pPr marL="171450" indent="-171450">
              <a:buFontTx/>
              <a:buChar char="-"/>
            </a:pPr>
            <a:endParaRPr lang="en-US" dirty="0"/>
          </a:p>
          <a:p>
            <a:pPr marL="171450" indent="-171450">
              <a:buFontTx/>
              <a:buChar char="-"/>
            </a:pPr>
            <a:endParaRPr lang="en-US" dirty="0"/>
          </a:p>
          <a:p>
            <a:pPr marL="171450" indent="-171450">
              <a:buFontTx/>
              <a:buChar char="-"/>
            </a:pPr>
            <a:endParaRPr lang="en-US" dirty="0"/>
          </a:p>
          <a:p>
            <a:pPr marL="171450" indent="-171450">
              <a:buFontTx/>
              <a:buChar char="-"/>
            </a:pPr>
            <a:r>
              <a:rPr lang="en-US" dirty="0"/>
              <a:t>Q1:</a:t>
            </a:r>
          </a:p>
          <a:p>
            <a:pPr marL="628650" lvl="1" indent="-171450">
              <a:buFontTx/>
              <a:buChar char="-"/>
            </a:pPr>
            <a:r>
              <a:rPr lang="en-US" dirty="0"/>
              <a:t>Correlation between median household income and homicide rates per state yielded a p-value of 0.9812</a:t>
            </a:r>
          </a:p>
          <a:p>
            <a:pPr marL="628650" lvl="1" indent="-171450">
              <a:buFontTx/>
              <a:buChar char="-"/>
            </a:pPr>
            <a:r>
              <a:rPr lang="en-US" dirty="0"/>
              <a:t>Failure to Reject Null Hypothesis: At a 5% p-value cutoff, we fail to reject the null hypothesis, indicating no direct correlation between poverty level and homicide rates</a:t>
            </a:r>
          </a:p>
          <a:p>
            <a:pPr marL="628650" lvl="1" indent="-171450">
              <a:buFontTx/>
              <a:buChar char="-"/>
            </a:pPr>
            <a:endParaRPr lang="en-US" dirty="0"/>
          </a:p>
          <a:p>
            <a:pPr marL="171450" lvl="0" indent="-171450">
              <a:buFontTx/>
              <a:buChar char="-"/>
            </a:pPr>
            <a:r>
              <a:rPr lang="en-US" dirty="0"/>
              <a:t>Q2:</a:t>
            </a:r>
          </a:p>
          <a:p>
            <a:pPr marL="628650" lvl="1" indent="-171450">
              <a:buFontTx/>
              <a:buChar char="-"/>
            </a:pPr>
            <a:r>
              <a:rPr lang="en-US" dirty="0"/>
              <a:t>Correlation between homicide rates and life expectancy per state resulted in a p-value of 0.6564</a:t>
            </a:r>
          </a:p>
          <a:p>
            <a:pPr marL="628650" lvl="1" indent="-171450">
              <a:buFontTx/>
              <a:buChar char="-"/>
            </a:pPr>
            <a:r>
              <a:rPr lang="en-US" dirty="0"/>
              <a:t>Failure to reject: Using a 5% p-value cutoff, we fail to reject the null hypothesis, indicating no direct correlation between homicide rates and life expectancy</a:t>
            </a:r>
          </a:p>
        </p:txBody>
      </p:sp>
      <p:sp>
        <p:nvSpPr>
          <p:cNvPr id="4" name="Slide Number Placeholder 3"/>
          <p:cNvSpPr>
            <a:spLocks noGrp="1"/>
          </p:cNvSpPr>
          <p:nvPr>
            <p:ph type="sldNum" sz="quarter" idx="5"/>
          </p:nvPr>
        </p:nvSpPr>
        <p:spPr/>
        <p:txBody>
          <a:bodyPr/>
          <a:lstStyle/>
          <a:p>
            <a:fld id="{98F5A755-B519-B142-8B54-0B714434C258}" type="slidenum">
              <a:rPr lang="en-US" smtClean="0"/>
              <a:t>12</a:t>
            </a:fld>
            <a:endParaRPr lang="en-US"/>
          </a:p>
        </p:txBody>
      </p:sp>
    </p:spTree>
    <p:extLst>
      <p:ext uri="{BB962C8B-B14F-4D97-AF65-F5344CB8AC3E}">
        <p14:creationId xmlns:p14="http://schemas.microsoft.com/office/powerpoint/2010/main" val="38668857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Research Objectives:</a:t>
            </a:r>
          </a:p>
          <a:p>
            <a:endParaRPr lang="en-US" dirty="0">
              <a:effectLst/>
            </a:endParaRPr>
          </a:p>
          <a:p>
            <a:pPr>
              <a:buFont typeface="Arial" panose="020B0604020202020204" pitchFamily="34" charset="0"/>
              <a:buChar char="•"/>
            </a:pPr>
            <a:r>
              <a:rPr lang="en-US" dirty="0">
                <a:effectLst/>
              </a:rPr>
              <a:t>We set out to investigate the relationship between median income and homicide rate, </a:t>
            </a:r>
          </a:p>
          <a:p>
            <a:pPr>
              <a:buFont typeface="Arial" panose="020B0604020202020204" pitchFamily="34" charset="0"/>
              <a:buChar char="•"/>
            </a:pPr>
            <a:r>
              <a:rPr lang="en-US" dirty="0">
                <a:effectLst/>
              </a:rPr>
              <a:t>as well as the impact of homicide rate on life expectancy at birth.</a:t>
            </a:r>
          </a:p>
          <a:p>
            <a:pPr>
              <a:buFont typeface="Arial" panose="020B0604020202020204" pitchFamily="34" charset="0"/>
              <a:buChar char="•"/>
            </a:pPr>
            <a:endParaRPr lang="en-US" dirty="0">
              <a:effectLst/>
            </a:endParaRPr>
          </a:p>
          <a:p>
            <a:r>
              <a:rPr lang="en-US" dirty="0">
                <a:effectLst/>
              </a:rPr>
              <a:t>Statistical Techniques:</a:t>
            </a:r>
          </a:p>
          <a:p>
            <a:endParaRPr lang="en-US" dirty="0">
              <a:effectLst/>
            </a:endParaRPr>
          </a:p>
          <a:p>
            <a:pPr>
              <a:buFont typeface="Arial" panose="020B0604020202020204" pitchFamily="34" charset="0"/>
              <a:buChar char="•"/>
            </a:pPr>
            <a:r>
              <a:rPr lang="en-US" dirty="0">
                <a:effectLst/>
              </a:rPr>
              <a:t>To achieve our objectives, we employed hypothesis testing, correlation analysis, </a:t>
            </a:r>
          </a:p>
          <a:p>
            <a:pPr>
              <a:buFont typeface="Arial" panose="020B0604020202020204" pitchFamily="34" charset="0"/>
              <a:buChar char="•"/>
            </a:pPr>
            <a:r>
              <a:rPr lang="en-US" dirty="0">
                <a:effectLst/>
              </a:rPr>
              <a:t>and linear regression.</a:t>
            </a:r>
          </a:p>
          <a:p>
            <a:pPr>
              <a:buFont typeface="Arial" panose="020B0604020202020204" pitchFamily="34" charset="0"/>
              <a:buChar char="•"/>
            </a:pPr>
            <a:endParaRPr lang="en-US" dirty="0">
              <a:effectLst/>
            </a:endParaRPr>
          </a:p>
          <a:p>
            <a:r>
              <a:rPr lang="en-US" dirty="0">
                <a:effectLst/>
              </a:rPr>
              <a:t>Significance:</a:t>
            </a:r>
          </a:p>
          <a:p>
            <a:endParaRPr lang="en-US" dirty="0">
              <a:effectLst/>
            </a:endParaRPr>
          </a:p>
          <a:p>
            <a:pPr>
              <a:buFont typeface="Arial" panose="020B0604020202020204" pitchFamily="34" charset="0"/>
              <a:buChar char="•"/>
            </a:pPr>
            <a:r>
              <a:rPr lang="en-US" dirty="0">
                <a:effectLst/>
              </a:rPr>
              <a:t>Our research aims to inform public policy decisions, resource allocation, </a:t>
            </a:r>
          </a:p>
          <a:p>
            <a:pPr>
              <a:buFont typeface="Arial" panose="020B0604020202020204" pitchFamily="34" charset="0"/>
              <a:buChar char="•"/>
            </a:pPr>
            <a:r>
              <a:rPr lang="en-US" dirty="0">
                <a:effectLst/>
              </a:rPr>
              <a:t>and intervention strategies aimed at reducing crime and improving public health outcomes.</a:t>
            </a:r>
          </a:p>
          <a:p>
            <a:pPr>
              <a:buFont typeface="Arial" panose="020B0604020202020204" pitchFamily="34" charset="0"/>
              <a:buChar char="•"/>
            </a:pPr>
            <a:endParaRPr lang="en-US" dirty="0">
              <a:effectLst/>
            </a:endParaRPr>
          </a:p>
          <a:p>
            <a:r>
              <a:rPr lang="en-US" dirty="0">
                <a:effectLst/>
              </a:rPr>
              <a:t>Findings:</a:t>
            </a:r>
          </a:p>
          <a:p>
            <a:endParaRPr lang="en-US" dirty="0">
              <a:effectLst/>
            </a:endParaRPr>
          </a:p>
          <a:p>
            <a:pPr>
              <a:buFont typeface="Arial" panose="020B0604020202020204" pitchFamily="34" charset="0"/>
              <a:buChar char="•"/>
            </a:pPr>
            <a:r>
              <a:rPr lang="en-US" dirty="0">
                <a:effectLst/>
              </a:rPr>
              <a:t>Our analysis revealed no statistically significant association between median income and homicide rate. </a:t>
            </a:r>
          </a:p>
          <a:p>
            <a:pPr>
              <a:buFont typeface="Arial" panose="020B0604020202020204" pitchFamily="34" charset="0"/>
              <a:buChar char="•"/>
            </a:pPr>
            <a:endParaRPr lang="en-US" dirty="0">
              <a:effectLst/>
            </a:endParaRPr>
          </a:p>
          <a:p>
            <a:pPr>
              <a:buFont typeface="Arial" panose="020B0604020202020204" pitchFamily="34" charset="0"/>
              <a:buChar char="•"/>
            </a:pPr>
            <a:r>
              <a:rPr lang="en-US" dirty="0">
                <a:effectLst/>
              </a:rPr>
              <a:t>Additionally, </a:t>
            </a:r>
          </a:p>
          <a:p>
            <a:pPr>
              <a:buFont typeface="Arial" panose="020B0604020202020204" pitchFamily="34" charset="0"/>
              <a:buChar char="•"/>
            </a:pPr>
            <a:r>
              <a:rPr lang="en-US" dirty="0">
                <a:effectLst/>
              </a:rPr>
              <a:t>we found that higher homicide rates do not correlate with lower life expectancy.</a:t>
            </a:r>
          </a:p>
          <a:p>
            <a:pPr>
              <a:buFont typeface="Arial" panose="020B0604020202020204" pitchFamily="34" charset="0"/>
              <a:buChar char="•"/>
            </a:pPr>
            <a:endParaRPr lang="en-US" dirty="0">
              <a:effectLst/>
            </a:endParaRPr>
          </a:p>
          <a:p>
            <a:r>
              <a:rPr lang="en-US" dirty="0">
                <a:effectLst/>
              </a:rPr>
              <a:t>Conclusion:</a:t>
            </a:r>
          </a:p>
          <a:p>
            <a:endParaRPr lang="en-US" dirty="0">
              <a:effectLst/>
            </a:endParaRPr>
          </a:p>
          <a:p>
            <a:pPr>
              <a:buFont typeface="Arial" panose="020B0604020202020204" pitchFamily="34" charset="0"/>
              <a:buChar char="•"/>
            </a:pPr>
            <a:r>
              <a:rPr lang="en-US" dirty="0">
                <a:effectLst/>
              </a:rPr>
              <a:t>Based on our analysis, we failed to reject the null hypothesis, </a:t>
            </a:r>
          </a:p>
          <a:p>
            <a:pPr>
              <a:buFont typeface="Arial" panose="020B0604020202020204" pitchFamily="34" charset="0"/>
              <a:buChar char="•"/>
            </a:pPr>
            <a:r>
              <a:rPr lang="en-US" dirty="0">
                <a:effectLst/>
              </a:rPr>
              <a:t>concluding that there is no evidence supporting the alternative hypothesis proposed in our study.</a:t>
            </a:r>
          </a:p>
          <a:p>
            <a:pPr algn="l"/>
            <a:br>
              <a:rPr lang="en-US" b="0" i="0" dirty="0">
                <a:solidFill>
                  <a:srgbClr val="000000"/>
                </a:solidFill>
                <a:effectLst/>
                <a:highlight>
                  <a:srgbClr val="FFFFFF"/>
                </a:highlight>
                <a:latin typeface="Söhne"/>
              </a:rPr>
            </a:br>
            <a:endParaRPr lang="en-US" b="0" i="0" dirty="0">
              <a:solidFill>
                <a:srgbClr val="000000"/>
              </a:solidFill>
              <a:effectLst/>
              <a:highlight>
                <a:srgbClr val="FFFFFF"/>
              </a:highlight>
              <a:latin typeface="Söhne"/>
            </a:endParaRPr>
          </a:p>
          <a:p>
            <a:pPr marL="171450" indent="-171450">
              <a:buFontTx/>
              <a:buChar char="-"/>
            </a:pPr>
            <a:endParaRPr lang="en-US" dirty="0"/>
          </a:p>
          <a:p>
            <a:pPr marL="171450" indent="-171450">
              <a:buFontTx/>
              <a:buChar char="-"/>
            </a:pPr>
            <a:endParaRPr lang="en-US" dirty="0"/>
          </a:p>
          <a:p>
            <a:pPr marL="171450" indent="-171450">
              <a:buFontTx/>
              <a:buChar char="-"/>
            </a:pPr>
            <a:endParaRPr lang="en-US" dirty="0"/>
          </a:p>
          <a:p>
            <a:pPr marL="171450" indent="-171450">
              <a:buFontTx/>
              <a:buChar char="-"/>
            </a:pPr>
            <a:endParaRPr lang="en-US" dirty="0"/>
          </a:p>
          <a:p>
            <a:pPr marL="171450" indent="-171450">
              <a:buFontTx/>
              <a:buChar char="-"/>
            </a:pPr>
            <a:endParaRPr lang="en-US" dirty="0"/>
          </a:p>
          <a:p>
            <a:pPr marL="171450" indent="-171450">
              <a:buFontTx/>
              <a:buChar char="-"/>
            </a:pPr>
            <a:endParaRPr lang="en-US" dirty="0"/>
          </a:p>
          <a:p>
            <a:pPr marL="171450" indent="-171450">
              <a:buFontTx/>
              <a:buChar char="-"/>
            </a:pPr>
            <a:endParaRPr lang="en-US" dirty="0"/>
          </a:p>
          <a:p>
            <a:pPr marL="171450" indent="-171450">
              <a:buFontTx/>
              <a:buChar char="-"/>
            </a:pPr>
            <a:r>
              <a:rPr lang="en-US" dirty="0"/>
              <a:t>Research Objectives:</a:t>
            </a:r>
          </a:p>
          <a:p>
            <a:pPr marL="628650" lvl="1" indent="-171450">
              <a:buFontTx/>
              <a:buChar char="-"/>
            </a:pPr>
            <a:r>
              <a:rPr lang="en-US" dirty="0"/>
              <a:t>Investigated relationship between median income and homicide rate</a:t>
            </a:r>
          </a:p>
          <a:p>
            <a:pPr marL="628650" lvl="1" indent="-171450">
              <a:buFontTx/>
              <a:buChar char="-"/>
            </a:pPr>
            <a:r>
              <a:rPr lang="en-US" dirty="0"/>
              <a:t>Explored impact of homicide rate on life expectancy at birth</a:t>
            </a:r>
          </a:p>
          <a:p>
            <a:pPr marL="628650" lvl="1" indent="-171450">
              <a:buFontTx/>
              <a:buChar char="-"/>
            </a:pPr>
            <a:endParaRPr lang="en-US" dirty="0"/>
          </a:p>
          <a:p>
            <a:pPr marL="171450" lvl="0" indent="-171450">
              <a:buFontTx/>
              <a:buChar char="-"/>
            </a:pPr>
            <a:r>
              <a:rPr lang="en-US" dirty="0"/>
              <a:t>Stat. Tech:</a:t>
            </a:r>
          </a:p>
          <a:p>
            <a:pPr marL="628650" lvl="1" indent="-171450">
              <a:buFontTx/>
              <a:buChar char="-"/>
            </a:pPr>
            <a:r>
              <a:rPr lang="en-US" dirty="0"/>
              <a:t>Utilized hypothesis testing, correlation analysis, and linear regression</a:t>
            </a:r>
          </a:p>
          <a:p>
            <a:pPr marL="628650" lvl="1" indent="-171450">
              <a:buFontTx/>
              <a:buChar char="-"/>
            </a:pPr>
            <a:endParaRPr lang="en-US" dirty="0"/>
          </a:p>
          <a:p>
            <a:pPr marL="171450" lvl="0" indent="-171450">
              <a:buFontTx/>
              <a:buChar char="-"/>
            </a:pPr>
            <a:r>
              <a:rPr lang="en-US" dirty="0"/>
              <a:t>Significance:</a:t>
            </a:r>
          </a:p>
          <a:p>
            <a:pPr marL="628650" lvl="1" indent="-171450">
              <a:buFontTx/>
              <a:buChar char="-"/>
            </a:pPr>
            <a:r>
              <a:rPr lang="en-US" dirty="0"/>
              <a:t>Informing public policy decisions, resource allocation, and intervention strategies</a:t>
            </a:r>
          </a:p>
          <a:p>
            <a:pPr marL="628650" lvl="1" indent="-171450">
              <a:buFontTx/>
              <a:buChar char="-"/>
            </a:pPr>
            <a:r>
              <a:rPr lang="en-US" dirty="0"/>
              <a:t>Aimed at reducing crime and improving public health outcomes</a:t>
            </a:r>
          </a:p>
          <a:p>
            <a:pPr marL="628650" lvl="1" indent="-171450">
              <a:buFontTx/>
              <a:buChar char="-"/>
            </a:pPr>
            <a:endParaRPr lang="en-US" dirty="0"/>
          </a:p>
          <a:p>
            <a:pPr marL="171450" lvl="0" indent="-171450">
              <a:buFontTx/>
              <a:buChar char="-"/>
            </a:pPr>
            <a:r>
              <a:rPr lang="en-US" dirty="0"/>
              <a:t>Findings:</a:t>
            </a:r>
          </a:p>
          <a:p>
            <a:pPr marL="628650" lvl="1" indent="-171450">
              <a:buFontTx/>
              <a:buChar char="-"/>
            </a:pPr>
            <a:r>
              <a:rPr lang="en-US" dirty="0"/>
              <a:t>No statistically significant association found between median income and homicide rate</a:t>
            </a:r>
          </a:p>
          <a:p>
            <a:pPr marL="628650" lvl="1" indent="-171450">
              <a:buFontTx/>
              <a:buChar char="-"/>
            </a:pPr>
            <a:r>
              <a:rPr lang="en-US" dirty="0"/>
              <a:t>Higher homicide rates do not correlate to lower life expectancy</a:t>
            </a:r>
          </a:p>
          <a:p>
            <a:pPr marL="628650" lvl="1" indent="-171450">
              <a:buFontTx/>
              <a:buChar char="-"/>
            </a:pPr>
            <a:endParaRPr lang="en-US" dirty="0"/>
          </a:p>
          <a:p>
            <a:pPr marL="171450" lvl="0" indent="-171450">
              <a:buFontTx/>
              <a:buChar char="-"/>
            </a:pPr>
            <a:r>
              <a:rPr lang="en-US" dirty="0"/>
              <a:t>Conclusion:</a:t>
            </a:r>
          </a:p>
          <a:p>
            <a:pPr marL="628650" lvl="1" indent="-171450">
              <a:buFontTx/>
              <a:buChar char="-"/>
            </a:pPr>
            <a:r>
              <a:rPr lang="en-US" dirty="0"/>
              <a:t>Failed to reject null hypothesis</a:t>
            </a:r>
          </a:p>
          <a:p>
            <a:pPr marL="628650" lvl="1" indent="-171450">
              <a:buFontTx/>
              <a:buChar char="-"/>
            </a:pPr>
            <a:r>
              <a:rPr lang="en-US" dirty="0"/>
              <a:t>Concluded no evidence supporting alternative hypothesis proposed in the study</a:t>
            </a:r>
          </a:p>
        </p:txBody>
      </p:sp>
      <p:sp>
        <p:nvSpPr>
          <p:cNvPr id="4" name="Slide Number Placeholder 3"/>
          <p:cNvSpPr>
            <a:spLocks noGrp="1"/>
          </p:cNvSpPr>
          <p:nvPr>
            <p:ph type="sldNum" sz="quarter" idx="5"/>
          </p:nvPr>
        </p:nvSpPr>
        <p:spPr/>
        <p:txBody>
          <a:bodyPr/>
          <a:lstStyle/>
          <a:p>
            <a:fld id="{98F5A755-B519-B142-8B54-0B714434C258}" type="slidenum">
              <a:rPr lang="en-US" smtClean="0"/>
              <a:t>13</a:t>
            </a:fld>
            <a:endParaRPr lang="en-US"/>
          </a:p>
        </p:txBody>
      </p:sp>
    </p:spTree>
    <p:extLst>
      <p:ext uri="{BB962C8B-B14F-4D97-AF65-F5344CB8AC3E}">
        <p14:creationId xmlns:p14="http://schemas.microsoft.com/office/powerpoint/2010/main" val="1225843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F5A755-B519-B142-8B54-0B714434C258}" type="slidenum">
              <a:rPr lang="en-US" smtClean="0"/>
              <a:t>14</a:t>
            </a:fld>
            <a:endParaRPr lang="en-US"/>
          </a:p>
        </p:txBody>
      </p:sp>
    </p:spTree>
    <p:extLst>
      <p:ext uri="{BB962C8B-B14F-4D97-AF65-F5344CB8AC3E}">
        <p14:creationId xmlns:p14="http://schemas.microsoft.com/office/powerpoint/2010/main" val="12655260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4596E-2B57-C0FA-DB6D-2EF84D751C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989CFAE-EA65-6B82-9175-64627CBC55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63CD89-6B4E-3DEA-7C8D-FCE850AFC399}"/>
              </a:ext>
            </a:extLst>
          </p:cNvPr>
          <p:cNvSpPr>
            <a:spLocks noGrp="1"/>
          </p:cNvSpPr>
          <p:nvPr>
            <p:ph type="dt" sz="half" idx="10"/>
          </p:nvPr>
        </p:nvSpPr>
        <p:spPr/>
        <p:txBody>
          <a:bodyPr/>
          <a:lstStyle/>
          <a:p>
            <a:fld id="{34D0D51E-3614-7D43-8B31-A43522102411}" type="datetimeFigureOut">
              <a:rPr lang="en-US" smtClean="0"/>
              <a:t>2/7/26</a:t>
            </a:fld>
            <a:endParaRPr lang="en-US"/>
          </a:p>
        </p:txBody>
      </p:sp>
      <p:sp>
        <p:nvSpPr>
          <p:cNvPr id="5" name="Footer Placeholder 4">
            <a:extLst>
              <a:ext uri="{FF2B5EF4-FFF2-40B4-BE49-F238E27FC236}">
                <a16:creationId xmlns:a16="http://schemas.microsoft.com/office/drawing/2014/main" id="{051F27C4-136C-AD51-7BC2-07E49B2142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2F031D-982C-CFE9-4D91-9295BAE8B13D}"/>
              </a:ext>
            </a:extLst>
          </p:cNvPr>
          <p:cNvSpPr>
            <a:spLocks noGrp="1"/>
          </p:cNvSpPr>
          <p:nvPr>
            <p:ph type="sldNum" sz="quarter" idx="12"/>
          </p:nvPr>
        </p:nvSpPr>
        <p:spPr/>
        <p:txBody>
          <a:bodyPr/>
          <a:lstStyle/>
          <a:p>
            <a:fld id="{4154BD1A-2CCC-B04F-9E6C-1D598F16D8A8}" type="slidenum">
              <a:rPr lang="en-US" smtClean="0"/>
              <a:t>‹#›</a:t>
            </a:fld>
            <a:endParaRPr lang="en-US"/>
          </a:p>
        </p:txBody>
      </p:sp>
    </p:spTree>
    <p:extLst>
      <p:ext uri="{BB962C8B-B14F-4D97-AF65-F5344CB8AC3E}">
        <p14:creationId xmlns:p14="http://schemas.microsoft.com/office/powerpoint/2010/main" val="1484042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2CAC4-7BB4-18BF-2BFB-04B32B10B0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9952A5-B974-CF3D-C45D-5E0C876139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0E048A-58CD-8CB2-2521-1437DAB58C20}"/>
              </a:ext>
            </a:extLst>
          </p:cNvPr>
          <p:cNvSpPr>
            <a:spLocks noGrp="1"/>
          </p:cNvSpPr>
          <p:nvPr>
            <p:ph type="dt" sz="half" idx="10"/>
          </p:nvPr>
        </p:nvSpPr>
        <p:spPr/>
        <p:txBody>
          <a:bodyPr/>
          <a:lstStyle/>
          <a:p>
            <a:fld id="{34D0D51E-3614-7D43-8B31-A43522102411}" type="datetimeFigureOut">
              <a:rPr lang="en-US" smtClean="0"/>
              <a:t>2/7/26</a:t>
            </a:fld>
            <a:endParaRPr lang="en-US"/>
          </a:p>
        </p:txBody>
      </p:sp>
      <p:sp>
        <p:nvSpPr>
          <p:cNvPr id="5" name="Footer Placeholder 4">
            <a:extLst>
              <a:ext uri="{FF2B5EF4-FFF2-40B4-BE49-F238E27FC236}">
                <a16:creationId xmlns:a16="http://schemas.microsoft.com/office/drawing/2014/main" id="{DABADBA7-B5F7-E092-3B5D-24EF2AB151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893C80-3A2E-AB98-0C73-0DAF5121CEC9}"/>
              </a:ext>
            </a:extLst>
          </p:cNvPr>
          <p:cNvSpPr>
            <a:spLocks noGrp="1"/>
          </p:cNvSpPr>
          <p:nvPr>
            <p:ph type="sldNum" sz="quarter" idx="12"/>
          </p:nvPr>
        </p:nvSpPr>
        <p:spPr/>
        <p:txBody>
          <a:bodyPr/>
          <a:lstStyle/>
          <a:p>
            <a:fld id="{4154BD1A-2CCC-B04F-9E6C-1D598F16D8A8}" type="slidenum">
              <a:rPr lang="en-US" smtClean="0"/>
              <a:t>‹#›</a:t>
            </a:fld>
            <a:endParaRPr lang="en-US"/>
          </a:p>
        </p:txBody>
      </p:sp>
    </p:spTree>
    <p:extLst>
      <p:ext uri="{BB962C8B-B14F-4D97-AF65-F5344CB8AC3E}">
        <p14:creationId xmlns:p14="http://schemas.microsoft.com/office/powerpoint/2010/main" val="3830405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FA5D5-14B1-96D0-2CF4-7AEC47FD76B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72FBD50-20B1-39B4-1362-9510F562636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8585A9-4C42-3CC7-D568-0B99E60FBB55}"/>
              </a:ext>
            </a:extLst>
          </p:cNvPr>
          <p:cNvSpPr>
            <a:spLocks noGrp="1"/>
          </p:cNvSpPr>
          <p:nvPr>
            <p:ph type="dt" sz="half" idx="10"/>
          </p:nvPr>
        </p:nvSpPr>
        <p:spPr/>
        <p:txBody>
          <a:bodyPr/>
          <a:lstStyle/>
          <a:p>
            <a:fld id="{34D0D51E-3614-7D43-8B31-A43522102411}" type="datetimeFigureOut">
              <a:rPr lang="en-US" smtClean="0"/>
              <a:t>2/7/26</a:t>
            </a:fld>
            <a:endParaRPr lang="en-US"/>
          </a:p>
        </p:txBody>
      </p:sp>
      <p:sp>
        <p:nvSpPr>
          <p:cNvPr id="5" name="Footer Placeholder 4">
            <a:extLst>
              <a:ext uri="{FF2B5EF4-FFF2-40B4-BE49-F238E27FC236}">
                <a16:creationId xmlns:a16="http://schemas.microsoft.com/office/drawing/2014/main" id="{8BCD22AC-B706-A7F5-2228-0DD30F25F7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CE2017-7F57-1CE8-B21A-0D3A6CF8F972}"/>
              </a:ext>
            </a:extLst>
          </p:cNvPr>
          <p:cNvSpPr>
            <a:spLocks noGrp="1"/>
          </p:cNvSpPr>
          <p:nvPr>
            <p:ph type="sldNum" sz="quarter" idx="12"/>
          </p:nvPr>
        </p:nvSpPr>
        <p:spPr/>
        <p:txBody>
          <a:bodyPr/>
          <a:lstStyle/>
          <a:p>
            <a:fld id="{4154BD1A-2CCC-B04F-9E6C-1D598F16D8A8}" type="slidenum">
              <a:rPr lang="en-US" smtClean="0"/>
              <a:t>‹#›</a:t>
            </a:fld>
            <a:endParaRPr lang="en-US"/>
          </a:p>
        </p:txBody>
      </p:sp>
    </p:spTree>
    <p:extLst>
      <p:ext uri="{BB962C8B-B14F-4D97-AF65-F5344CB8AC3E}">
        <p14:creationId xmlns:p14="http://schemas.microsoft.com/office/powerpoint/2010/main" val="54604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B57F5-F030-10E7-AA2D-675D2ABDD7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C10A77-BBD7-3931-A68C-5E9A9131B3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9741C5-9CD6-FC5F-719C-2AD81412A9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58865F1-8EBD-ACBF-3764-25A283A87426}"/>
              </a:ext>
            </a:extLst>
          </p:cNvPr>
          <p:cNvSpPr>
            <a:spLocks noGrp="1"/>
          </p:cNvSpPr>
          <p:nvPr>
            <p:ph type="dt" sz="half" idx="10"/>
          </p:nvPr>
        </p:nvSpPr>
        <p:spPr/>
        <p:txBody>
          <a:bodyPr/>
          <a:lstStyle/>
          <a:p>
            <a:fld id="{34D0D51E-3614-7D43-8B31-A43522102411}" type="datetimeFigureOut">
              <a:rPr lang="en-US" smtClean="0"/>
              <a:t>2/7/26</a:t>
            </a:fld>
            <a:endParaRPr lang="en-US"/>
          </a:p>
        </p:txBody>
      </p:sp>
      <p:sp>
        <p:nvSpPr>
          <p:cNvPr id="6" name="Footer Placeholder 5">
            <a:extLst>
              <a:ext uri="{FF2B5EF4-FFF2-40B4-BE49-F238E27FC236}">
                <a16:creationId xmlns:a16="http://schemas.microsoft.com/office/drawing/2014/main" id="{11D3EC6C-28F8-F0FC-8E24-6371392F64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743BC8-725E-AB16-FB44-EF1C1B18BEF8}"/>
              </a:ext>
            </a:extLst>
          </p:cNvPr>
          <p:cNvSpPr>
            <a:spLocks noGrp="1"/>
          </p:cNvSpPr>
          <p:nvPr>
            <p:ph type="sldNum" sz="quarter" idx="12"/>
          </p:nvPr>
        </p:nvSpPr>
        <p:spPr/>
        <p:txBody>
          <a:bodyPr/>
          <a:lstStyle/>
          <a:p>
            <a:fld id="{4154BD1A-2CCC-B04F-9E6C-1D598F16D8A8}" type="slidenum">
              <a:rPr lang="en-US" smtClean="0"/>
              <a:t>‹#›</a:t>
            </a:fld>
            <a:endParaRPr lang="en-US"/>
          </a:p>
        </p:txBody>
      </p:sp>
    </p:spTree>
    <p:extLst>
      <p:ext uri="{BB962C8B-B14F-4D97-AF65-F5344CB8AC3E}">
        <p14:creationId xmlns:p14="http://schemas.microsoft.com/office/powerpoint/2010/main" val="299774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8437A-DB22-405E-14D4-5284C8BD6DC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AF4294E-C048-D5F4-690A-5A887C25BE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2E8548-151D-743A-9D54-4DFF58ACE0A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205DDF0-F04B-CCEC-02B7-1C5EB3FB8D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AE6B9CA-E4F7-9C1D-A3A3-DEE541E40E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415918-FBF4-0919-5147-5D07E4260525}"/>
              </a:ext>
            </a:extLst>
          </p:cNvPr>
          <p:cNvSpPr>
            <a:spLocks noGrp="1"/>
          </p:cNvSpPr>
          <p:nvPr>
            <p:ph type="dt" sz="half" idx="10"/>
          </p:nvPr>
        </p:nvSpPr>
        <p:spPr/>
        <p:txBody>
          <a:bodyPr/>
          <a:lstStyle/>
          <a:p>
            <a:fld id="{34D0D51E-3614-7D43-8B31-A43522102411}" type="datetimeFigureOut">
              <a:rPr lang="en-US" smtClean="0"/>
              <a:t>2/7/26</a:t>
            </a:fld>
            <a:endParaRPr lang="en-US"/>
          </a:p>
        </p:txBody>
      </p:sp>
      <p:sp>
        <p:nvSpPr>
          <p:cNvPr id="8" name="Footer Placeholder 7">
            <a:extLst>
              <a:ext uri="{FF2B5EF4-FFF2-40B4-BE49-F238E27FC236}">
                <a16:creationId xmlns:a16="http://schemas.microsoft.com/office/drawing/2014/main" id="{E70BA53D-EF1B-1633-BC5C-E8F8FAA246A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1AF7B15-D14E-117E-A88F-429A9FBF507D}"/>
              </a:ext>
            </a:extLst>
          </p:cNvPr>
          <p:cNvSpPr>
            <a:spLocks noGrp="1"/>
          </p:cNvSpPr>
          <p:nvPr>
            <p:ph type="sldNum" sz="quarter" idx="12"/>
          </p:nvPr>
        </p:nvSpPr>
        <p:spPr/>
        <p:txBody>
          <a:bodyPr/>
          <a:lstStyle/>
          <a:p>
            <a:fld id="{4154BD1A-2CCC-B04F-9E6C-1D598F16D8A8}" type="slidenum">
              <a:rPr lang="en-US" smtClean="0"/>
              <a:t>‹#›</a:t>
            </a:fld>
            <a:endParaRPr lang="en-US"/>
          </a:p>
        </p:txBody>
      </p:sp>
    </p:spTree>
    <p:extLst>
      <p:ext uri="{BB962C8B-B14F-4D97-AF65-F5344CB8AC3E}">
        <p14:creationId xmlns:p14="http://schemas.microsoft.com/office/powerpoint/2010/main" val="4220627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3270D-2A7B-61CC-17F0-EBDD140FF77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855038A-48B4-6063-6E07-EB2BA47F95F6}"/>
              </a:ext>
            </a:extLst>
          </p:cNvPr>
          <p:cNvSpPr>
            <a:spLocks noGrp="1"/>
          </p:cNvSpPr>
          <p:nvPr>
            <p:ph type="dt" sz="half" idx="10"/>
          </p:nvPr>
        </p:nvSpPr>
        <p:spPr/>
        <p:txBody>
          <a:bodyPr/>
          <a:lstStyle/>
          <a:p>
            <a:fld id="{34D0D51E-3614-7D43-8B31-A43522102411}" type="datetimeFigureOut">
              <a:rPr lang="en-US" smtClean="0"/>
              <a:t>2/7/26</a:t>
            </a:fld>
            <a:endParaRPr lang="en-US"/>
          </a:p>
        </p:txBody>
      </p:sp>
      <p:sp>
        <p:nvSpPr>
          <p:cNvPr id="4" name="Footer Placeholder 3">
            <a:extLst>
              <a:ext uri="{FF2B5EF4-FFF2-40B4-BE49-F238E27FC236}">
                <a16:creationId xmlns:a16="http://schemas.microsoft.com/office/drawing/2014/main" id="{105248A8-FAB2-BBC8-7209-5E542477BE2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ED1F95-E940-C9AC-F457-DF9D04F51E96}"/>
              </a:ext>
            </a:extLst>
          </p:cNvPr>
          <p:cNvSpPr>
            <a:spLocks noGrp="1"/>
          </p:cNvSpPr>
          <p:nvPr>
            <p:ph type="sldNum" sz="quarter" idx="12"/>
          </p:nvPr>
        </p:nvSpPr>
        <p:spPr/>
        <p:txBody>
          <a:bodyPr/>
          <a:lstStyle/>
          <a:p>
            <a:fld id="{4154BD1A-2CCC-B04F-9E6C-1D598F16D8A8}" type="slidenum">
              <a:rPr lang="en-US" smtClean="0"/>
              <a:t>‹#›</a:t>
            </a:fld>
            <a:endParaRPr lang="en-US"/>
          </a:p>
        </p:txBody>
      </p:sp>
    </p:spTree>
    <p:extLst>
      <p:ext uri="{BB962C8B-B14F-4D97-AF65-F5344CB8AC3E}">
        <p14:creationId xmlns:p14="http://schemas.microsoft.com/office/powerpoint/2010/main" val="2853695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056962-615A-6D0E-8544-E19AC742B8E0}"/>
              </a:ext>
            </a:extLst>
          </p:cNvPr>
          <p:cNvSpPr>
            <a:spLocks noGrp="1"/>
          </p:cNvSpPr>
          <p:nvPr>
            <p:ph type="dt" sz="half" idx="10"/>
          </p:nvPr>
        </p:nvSpPr>
        <p:spPr/>
        <p:txBody>
          <a:bodyPr/>
          <a:lstStyle/>
          <a:p>
            <a:fld id="{34D0D51E-3614-7D43-8B31-A43522102411}" type="datetimeFigureOut">
              <a:rPr lang="en-US" smtClean="0"/>
              <a:t>2/7/26</a:t>
            </a:fld>
            <a:endParaRPr lang="en-US"/>
          </a:p>
        </p:txBody>
      </p:sp>
      <p:sp>
        <p:nvSpPr>
          <p:cNvPr id="3" name="Footer Placeholder 2">
            <a:extLst>
              <a:ext uri="{FF2B5EF4-FFF2-40B4-BE49-F238E27FC236}">
                <a16:creationId xmlns:a16="http://schemas.microsoft.com/office/drawing/2014/main" id="{8714EBF9-9D2F-1D05-ACBF-C7CE44C5AD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771DB65-8AF9-A7BB-8042-F8BF691B52F4}"/>
              </a:ext>
            </a:extLst>
          </p:cNvPr>
          <p:cNvSpPr>
            <a:spLocks noGrp="1"/>
          </p:cNvSpPr>
          <p:nvPr>
            <p:ph type="sldNum" sz="quarter" idx="12"/>
          </p:nvPr>
        </p:nvSpPr>
        <p:spPr/>
        <p:txBody>
          <a:bodyPr/>
          <a:lstStyle/>
          <a:p>
            <a:fld id="{4154BD1A-2CCC-B04F-9E6C-1D598F16D8A8}" type="slidenum">
              <a:rPr lang="en-US" smtClean="0"/>
              <a:t>‹#›</a:t>
            </a:fld>
            <a:endParaRPr lang="en-US"/>
          </a:p>
        </p:txBody>
      </p:sp>
    </p:spTree>
    <p:extLst>
      <p:ext uri="{BB962C8B-B14F-4D97-AF65-F5344CB8AC3E}">
        <p14:creationId xmlns:p14="http://schemas.microsoft.com/office/powerpoint/2010/main" val="31444856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65E27-2CDE-2042-B405-56AD4D42D9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5B57BF0-43D3-7AA0-EB65-1C5F42548F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BAB69B-9D3B-DE4D-5893-F6FC536758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C8E1D5-B778-1C07-7A17-32D50AE23E3D}"/>
              </a:ext>
            </a:extLst>
          </p:cNvPr>
          <p:cNvSpPr>
            <a:spLocks noGrp="1"/>
          </p:cNvSpPr>
          <p:nvPr>
            <p:ph type="dt" sz="half" idx="10"/>
          </p:nvPr>
        </p:nvSpPr>
        <p:spPr/>
        <p:txBody>
          <a:bodyPr/>
          <a:lstStyle/>
          <a:p>
            <a:fld id="{34D0D51E-3614-7D43-8B31-A43522102411}" type="datetimeFigureOut">
              <a:rPr lang="en-US" smtClean="0"/>
              <a:t>2/7/26</a:t>
            </a:fld>
            <a:endParaRPr lang="en-US"/>
          </a:p>
        </p:txBody>
      </p:sp>
      <p:sp>
        <p:nvSpPr>
          <p:cNvPr id="6" name="Footer Placeholder 5">
            <a:extLst>
              <a:ext uri="{FF2B5EF4-FFF2-40B4-BE49-F238E27FC236}">
                <a16:creationId xmlns:a16="http://schemas.microsoft.com/office/drawing/2014/main" id="{2C37B433-CC99-3ECF-C971-AC49C31ECE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CB03E6-44E5-DB77-B6D2-CF10DDCB2B37}"/>
              </a:ext>
            </a:extLst>
          </p:cNvPr>
          <p:cNvSpPr>
            <a:spLocks noGrp="1"/>
          </p:cNvSpPr>
          <p:nvPr>
            <p:ph type="sldNum" sz="quarter" idx="12"/>
          </p:nvPr>
        </p:nvSpPr>
        <p:spPr/>
        <p:txBody>
          <a:bodyPr/>
          <a:lstStyle/>
          <a:p>
            <a:fld id="{4154BD1A-2CCC-B04F-9E6C-1D598F16D8A8}" type="slidenum">
              <a:rPr lang="en-US" smtClean="0"/>
              <a:t>‹#›</a:t>
            </a:fld>
            <a:endParaRPr lang="en-US"/>
          </a:p>
        </p:txBody>
      </p:sp>
    </p:spTree>
    <p:extLst>
      <p:ext uri="{BB962C8B-B14F-4D97-AF65-F5344CB8AC3E}">
        <p14:creationId xmlns:p14="http://schemas.microsoft.com/office/powerpoint/2010/main" val="90695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EE611-2909-4E9C-2E0F-5FC6014553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9B3B5B8-AC4A-D4F6-763E-14A279E394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282702C-1979-FAEA-BEE1-806DDBD6BC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51643B-F854-D2F1-68CE-F532A59D85B4}"/>
              </a:ext>
            </a:extLst>
          </p:cNvPr>
          <p:cNvSpPr>
            <a:spLocks noGrp="1"/>
          </p:cNvSpPr>
          <p:nvPr>
            <p:ph type="dt" sz="half" idx="10"/>
          </p:nvPr>
        </p:nvSpPr>
        <p:spPr/>
        <p:txBody>
          <a:bodyPr/>
          <a:lstStyle/>
          <a:p>
            <a:fld id="{34D0D51E-3614-7D43-8B31-A43522102411}" type="datetimeFigureOut">
              <a:rPr lang="en-US" smtClean="0"/>
              <a:t>2/7/26</a:t>
            </a:fld>
            <a:endParaRPr lang="en-US"/>
          </a:p>
        </p:txBody>
      </p:sp>
      <p:sp>
        <p:nvSpPr>
          <p:cNvPr id="6" name="Footer Placeholder 5">
            <a:extLst>
              <a:ext uri="{FF2B5EF4-FFF2-40B4-BE49-F238E27FC236}">
                <a16:creationId xmlns:a16="http://schemas.microsoft.com/office/drawing/2014/main" id="{63D7BB14-7906-A33A-40D9-78D3301872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F4F27C-1A77-FA45-CE8F-46FCD678260F}"/>
              </a:ext>
            </a:extLst>
          </p:cNvPr>
          <p:cNvSpPr>
            <a:spLocks noGrp="1"/>
          </p:cNvSpPr>
          <p:nvPr>
            <p:ph type="sldNum" sz="quarter" idx="12"/>
          </p:nvPr>
        </p:nvSpPr>
        <p:spPr/>
        <p:txBody>
          <a:bodyPr/>
          <a:lstStyle/>
          <a:p>
            <a:fld id="{4154BD1A-2CCC-B04F-9E6C-1D598F16D8A8}" type="slidenum">
              <a:rPr lang="en-US" smtClean="0"/>
              <a:t>‹#›</a:t>
            </a:fld>
            <a:endParaRPr lang="en-US"/>
          </a:p>
        </p:txBody>
      </p:sp>
    </p:spTree>
    <p:extLst>
      <p:ext uri="{BB962C8B-B14F-4D97-AF65-F5344CB8AC3E}">
        <p14:creationId xmlns:p14="http://schemas.microsoft.com/office/powerpoint/2010/main" val="3723201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60D3B-3E23-E753-0B86-C79542A78CB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2930E74-25F1-E1DB-EC5B-97BEE7F343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6F1B6B-7C12-29C3-36B5-EBE3303BDF87}"/>
              </a:ext>
            </a:extLst>
          </p:cNvPr>
          <p:cNvSpPr>
            <a:spLocks noGrp="1"/>
          </p:cNvSpPr>
          <p:nvPr>
            <p:ph type="dt" sz="half" idx="10"/>
          </p:nvPr>
        </p:nvSpPr>
        <p:spPr/>
        <p:txBody>
          <a:bodyPr/>
          <a:lstStyle/>
          <a:p>
            <a:fld id="{34D0D51E-3614-7D43-8B31-A43522102411}" type="datetimeFigureOut">
              <a:rPr lang="en-US" smtClean="0"/>
              <a:t>2/7/26</a:t>
            </a:fld>
            <a:endParaRPr lang="en-US"/>
          </a:p>
        </p:txBody>
      </p:sp>
      <p:sp>
        <p:nvSpPr>
          <p:cNvPr id="5" name="Footer Placeholder 4">
            <a:extLst>
              <a:ext uri="{FF2B5EF4-FFF2-40B4-BE49-F238E27FC236}">
                <a16:creationId xmlns:a16="http://schemas.microsoft.com/office/drawing/2014/main" id="{5AD6B614-4999-9753-5925-8F6CEABE25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D43AC5-1DE9-85F5-4740-67D4A3BD080C}"/>
              </a:ext>
            </a:extLst>
          </p:cNvPr>
          <p:cNvSpPr>
            <a:spLocks noGrp="1"/>
          </p:cNvSpPr>
          <p:nvPr>
            <p:ph type="sldNum" sz="quarter" idx="12"/>
          </p:nvPr>
        </p:nvSpPr>
        <p:spPr/>
        <p:txBody>
          <a:bodyPr/>
          <a:lstStyle/>
          <a:p>
            <a:fld id="{4154BD1A-2CCC-B04F-9E6C-1D598F16D8A8}" type="slidenum">
              <a:rPr lang="en-US" smtClean="0"/>
              <a:t>‹#›</a:t>
            </a:fld>
            <a:endParaRPr lang="en-US"/>
          </a:p>
        </p:txBody>
      </p:sp>
    </p:spTree>
    <p:extLst>
      <p:ext uri="{BB962C8B-B14F-4D97-AF65-F5344CB8AC3E}">
        <p14:creationId xmlns:p14="http://schemas.microsoft.com/office/powerpoint/2010/main" val="1767170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7C4A4B-10BB-72CE-5939-F3166275B7B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E9254D0-F6A6-07C5-40FD-064E414493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0B6035-85E2-7FD7-8931-C047DC0F9498}"/>
              </a:ext>
            </a:extLst>
          </p:cNvPr>
          <p:cNvSpPr>
            <a:spLocks noGrp="1"/>
          </p:cNvSpPr>
          <p:nvPr>
            <p:ph type="dt" sz="half" idx="10"/>
          </p:nvPr>
        </p:nvSpPr>
        <p:spPr/>
        <p:txBody>
          <a:bodyPr/>
          <a:lstStyle/>
          <a:p>
            <a:fld id="{34D0D51E-3614-7D43-8B31-A43522102411}" type="datetimeFigureOut">
              <a:rPr lang="en-US" smtClean="0"/>
              <a:t>2/7/26</a:t>
            </a:fld>
            <a:endParaRPr lang="en-US"/>
          </a:p>
        </p:txBody>
      </p:sp>
      <p:sp>
        <p:nvSpPr>
          <p:cNvPr id="5" name="Footer Placeholder 4">
            <a:extLst>
              <a:ext uri="{FF2B5EF4-FFF2-40B4-BE49-F238E27FC236}">
                <a16:creationId xmlns:a16="http://schemas.microsoft.com/office/drawing/2014/main" id="{0884E24E-4260-FE2B-6B94-E0889A306D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27FD1F-0F03-26BD-7355-356649ACFCC7}"/>
              </a:ext>
            </a:extLst>
          </p:cNvPr>
          <p:cNvSpPr>
            <a:spLocks noGrp="1"/>
          </p:cNvSpPr>
          <p:nvPr>
            <p:ph type="sldNum" sz="quarter" idx="12"/>
          </p:nvPr>
        </p:nvSpPr>
        <p:spPr/>
        <p:txBody>
          <a:bodyPr/>
          <a:lstStyle/>
          <a:p>
            <a:fld id="{4154BD1A-2CCC-B04F-9E6C-1D598F16D8A8}" type="slidenum">
              <a:rPr lang="en-US" smtClean="0"/>
              <a:t>‹#›</a:t>
            </a:fld>
            <a:endParaRPr lang="en-US"/>
          </a:p>
        </p:txBody>
      </p:sp>
    </p:spTree>
    <p:extLst>
      <p:ext uri="{BB962C8B-B14F-4D97-AF65-F5344CB8AC3E}">
        <p14:creationId xmlns:p14="http://schemas.microsoft.com/office/powerpoint/2010/main" val="3905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6E63B9-2100-4B00-2853-3A42496332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EDC1690-C404-FFA9-52FE-27F4BD6C28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271646-C649-425F-EC8F-67EF069797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4D0D51E-3614-7D43-8B31-A43522102411}" type="datetimeFigureOut">
              <a:rPr lang="en-US" smtClean="0"/>
              <a:t>2/7/26</a:t>
            </a:fld>
            <a:endParaRPr lang="en-US"/>
          </a:p>
        </p:txBody>
      </p:sp>
      <p:sp>
        <p:nvSpPr>
          <p:cNvPr id="5" name="Footer Placeholder 4">
            <a:extLst>
              <a:ext uri="{FF2B5EF4-FFF2-40B4-BE49-F238E27FC236}">
                <a16:creationId xmlns:a16="http://schemas.microsoft.com/office/drawing/2014/main" id="{7111345A-EF96-8F11-D5BE-EAC96E0CC2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B1A392D-54F4-F4A0-DB24-AE1AD8C8D6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154BD1A-2CCC-B04F-9E6C-1D598F16D8A8}" type="slidenum">
              <a:rPr lang="en-US" smtClean="0"/>
              <a:t>‹#›</a:t>
            </a:fld>
            <a:endParaRPr lang="en-US"/>
          </a:p>
        </p:txBody>
      </p:sp>
    </p:spTree>
    <p:extLst>
      <p:ext uri="{BB962C8B-B14F-4D97-AF65-F5344CB8AC3E}">
        <p14:creationId xmlns:p14="http://schemas.microsoft.com/office/powerpoint/2010/main" val="4747551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cdc.gov/nchs/pressroom/sosmap/homicide_mortality/homicide.htm"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7AEA00-654F-9A39-01CB-2C3EEAEA1F69}"/>
              </a:ext>
            </a:extLst>
          </p:cNvPr>
          <p:cNvSpPr>
            <a:spLocks noGrp="1"/>
          </p:cNvSpPr>
          <p:nvPr>
            <p:ph type="ctrTitle"/>
          </p:nvPr>
        </p:nvSpPr>
        <p:spPr>
          <a:xfrm>
            <a:off x="1524000" y="1293338"/>
            <a:ext cx="9144000" cy="3274592"/>
          </a:xfrm>
        </p:spPr>
        <p:txBody>
          <a:bodyPr anchor="ctr">
            <a:normAutofit/>
          </a:bodyPr>
          <a:lstStyle/>
          <a:p>
            <a:r>
              <a:rPr lang="en-US" sz="7200">
                <a:latin typeface="Times New Roman" panose="02020603050405020304" pitchFamily="18" charset="0"/>
                <a:cs typeface="Times New Roman" panose="02020603050405020304" pitchFamily="18" charset="0"/>
              </a:rPr>
              <a:t>Correlation Testing</a:t>
            </a:r>
          </a:p>
        </p:txBody>
      </p:sp>
      <p:sp>
        <p:nvSpPr>
          <p:cNvPr id="3" name="Subtitle 2">
            <a:extLst>
              <a:ext uri="{FF2B5EF4-FFF2-40B4-BE49-F238E27FC236}">
                <a16:creationId xmlns:a16="http://schemas.microsoft.com/office/drawing/2014/main" id="{B57C6F87-0730-6EB5-998B-8FEE30A57850}"/>
              </a:ext>
            </a:extLst>
          </p:cNvPr>
          <p:cNvSpPr>
            <a:spLocks noGrp="1"/>
          </p:cNvSpPr>
          <p:nvPr>
            <p:ph type="subTitle" idx="1"/>
          </p:nvPr>
        </p:nvSpPr>
        <p:spPr>
          <a:xfrm>
            <a:off x="1524000" y="5514052"/>
            <a:ext cx="9144000" cy="651910"/>
          </a:xfrm>
        </p:spPr>
        <p:txBody>
          <a:bodyPr anchor="ctr">
            <a:normAutofit/>
          </a:bodyPr>
          <a:lstStyle/>
          <a:p>
            <a:r>
              <a:rPr lang="en-US" sz="2000">
                <a:latin typeface="Times New Roman" panose="02020603050405020304" pitchFamily="18" charset="0"/>
                <a:cs typeface="Times New Roman" panose="02020603050405020304" pitchFamily="18" charset="0"/>
              </a:rPr>
              <a:t>Marshall Smith, Adrian College, Foundations of Data Analytics 2,   Dr. </a:t>
            </a:r>
            <a:r>
              <a:rPr lang="en-US" sz="2000" err="1">
                <a:latin typeface="Times New Roman" panose="02020603050405020304" pitchFamily="18" charset="0"/>
                <a:cs typeface="Times New Roman" panose="02020603050405020304" pitchFamily="18" charset="0"/>
              </a:rPr>
              <a:t>Sabasi</a:t>
            </a:r>
            <a:r>
              <a:rPr lang="en-US" sz="2000">
                <a:latin typeface="Times New Roman" panose="02020603050405020304" pitchFamily="18" charset="0"/>
                <a:cs typeface="Times New Roman" panose="02020603050405020304" pitchFamily="18" charset="0"/>
              </a:rPr>
              <a:t>, 4/20/24</a:t>
            </a:r>
          </a:p>
        </p:txBody>
      </p:sp>
      <p:cxnSp>
        <p:nvCxnSpPr>
          <p:cNvPr id="14" name="Straight Connector 13">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46497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498932-2D19-D2B8-64A7-4C8F763459CC}"/>
              </a:ext>
            </a:extLst>
          </p:cNvPr>
          <p:cNvSpPr>
            <a:spLocks noGrp="1"/>
          </p:cNvSpPr>
          <p:nvPr>
            <p:ph type="title"/>
          </p:nvPr>
        </p:nvSpPr>
        <p:spPr>
          <a:xfrm>
            <a:off x="808638" y="386930"/>
            <a:ext cx="9236700" cy="1188950"/>
          </a:xfrm>
        </p:spPr>
        <p:txBody>
          <a:bodyPr anchor="b">
            <a:normAutofit/>
          </a:bodyPr>
          <a:lstStyle/>
          <a:p>
            <a:r>
              <a:rPr lang="en-US" sz="5400">
                <a:latin typeface="Times New Roman" panose="02020603050405020304" pitchFamily="18" charset="0"/>
                <a:cs typeface="Times New Roman" panose="02020603050405020304" pitchFamily="18" charset="0"/>
              </a:rPr>
              <a:t>Background</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297DD37-CD11-7C8A-0F24-ACB9FE3172C8}"/>
              </a:ext>
            </a:extLst>
          </p:cNvPr>
          <p:cNvSpPr>
            <a:spLocks noGrp="1"/>
          </p:cNvSpPr>
          <p:nvPr>
            <p:ph idx="1"/>
          </p:nvPr>
        </p:nvSpPr>
        <p:spPr>
          <a:xfrm>
            <a:off x="793660" y="2599509"/>
            <a:ext cx="10143668" cy="3435531"/>
          </a:xfrm>
        </p:spPr>
        <p:txBody>
          <a:bodyPr anchor="ctr">
            <a:normAutofit/>
          </a:bodyPr>
          <a:lstStyle/>
          <a:p>
            <a:r>
              <a:rPr lang="en-US" sz="2400" dirty="0">
                <a:latin typeface="Times New Roman" panose="02020603050405020304" pitchFamily="18" charset="0"/>
                <a:cs typeface="Times New Roman" panose="02020603050405020304" pitchFamily="18" charset="0"/>
              </a:rPr>
              <a:t>Analyzed correlation of real-world statistics</a:t>
            </a:r>
          </a:p>
          <a:p>
            <a:endParaRPr lang="en-US" sz="2400" dirty="0">
              <a:latin typeface="Times New Roman" panose="02020603050405020304" pitchFamily="18" charset="0"/>
              <a:cs typeface="Times New Roman" panose="02020603050405020304" pitchFamily="18" charset="0"/>
            </a:endParaRPr>
          </a:p>
          <a:p>
            <a:r>
              <a:rPr lang="en-US" sz="2400" b="0" i="0" dirty="0">
                <a:solidFill>
                  <a:srgbClr val="0D0D0D"/>
                </a:solidFill>
                <a:effectLst/>
                <a:highlight>
                  <a:srgbClr val="FFFFFF"/>
                </a:highlight>
                <a:latin typeface="Times New Roman" panose="02020603050405020304" pitchFamily="18" charset="0"/>
                <a:cs typeface="Times New Roman" panose="02020603050405020304" pitchFamily="18" charset="0"/>
              </a:rPr>
              <a:t>This research informs policy, resource allocation, and interventions to reduce crime and improve public health.</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41909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984386-D72D-6305-0EED-B620D880D11B}"/>
              </a:ext>
            </a:extLst>
          </p:cNvPr>
          <p:cNvSpPr>
            <a:spLocks noGrp="1"/>
          </p:cNvSpPr>
          <p:nvPr>
            <p:ph type="title"/>
          </p:nvPr>
        </p:nvSpPr>
        <p:spPr>
          <a:xfrm>
            <a:off x="808638" y="386930"/>
            <a:ext cx="9236700" cy="1188950"/>
          </a:xfrm>
        </p:spPr>
        <p:txBody>
          <a:bodyPr anchor="b">
            <a:normAutofit/>
          </a:bodyPr>
          <a:lstStyle/>
          <a:p>
            <a:r>
              <a:rPr lang="en-US" sz="5400">
                <a:latin typeface="Times New Roman" panose="02020603050405020304" pitchFamily="18" charset="0"/>
                <a:cs typeface="Times New Roman" panose="02020603050405020304" pitchFamily="18" charset="0"/>
              </a:rPr>
              <a:t>Hypothesis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0B43254-4E3D-B3F4-45C5-E34176A30C9E}"/>
              </a:ext>
            </a:extLst>
          </p:cNvPr>
          <p:cNvSpPr>
            <a:spLocks noGrp="1"/>
          </p:cNvSpPr>
          <p:nvPr>
            <p:ph idx="1"/>
          </p:nvPr>
        </p:nvSpPr>
        <p:spPr>
          <a:xfrm>
            <a:off x="793660" y="2599509"/>
            <a:ext cx="10143668" cy="3435531"/>
          </a:xfrm>
        </p:spPr>
        <p:txBody>
          <a:bodyPr anchor="ctr">
            <a:normAutofit/>
          </a:bodyPr>
          <a:lstStyle/>
          <a:p>
            <a:r>
              <a:rPr lang="en-US" sz="2200" dirty="0">
                <a:latin typeface="Times New Roman" panose="02020603050405020304" pitchFamily="18" charset="0"/>
                <a:cs typeface="Times New Roman" panose="02020603050405020304" pitchFamily="18" charset="0"/>
              </a:rPr>
              <a:t>Q1 Null Hypothesis: There is no relationship between median household income and homicide rate</a:t>
            </a:r>
          </a:p>
          <a:p>
            <a:r>
              <a:rPr lang="en-US" sz="2200" dirty="0">
                <a:latin typeface="Times New Roman" panose="02020603050405020304" pitchFamily="18" charset="0"/>
                <a:cs typeface="Times New Roman" panose="02020603050405020304" pitchFamily="18" charset="0"/>
              </a:rPr>
              <a:t>Q1 Alternative Hypothesis: There is a relationship between median household income and homicide rate</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Q2 Null Hypothesis: There is not a significant relationship between life expectancy at birth and homicide rate</a:t>
            </a:r>
          </a:p>
          <a:p>
            <a:r>
              <a:rPr lang="en-US" sz="2200" dirty="0">
                <a:latin typeface="Times New Roman" panose="02020603050405020304" pitchFamily="18" charset="0"/>
                <a:cs typeface="Times New Roman" panose="02020603050405020304" pitchFamily="18" charset="0"/>
              </a:rPr>
              <a:t>Q2 Alternative Hypothesis: There is a significant relationship between life expectancy at birth and homicide rate</a:t>
            </a:r>
          </a:p>
        </p:txBody>
      </p:sp>
    </p:spTree>
    <p:extLst>
      <p:ext uri="{BB962C8B-B14F-4D97-AF65-F5344CB8AC3E}">
        <p14:creationId xmlns:p14="http://schemas.microsoft.com/office/powerpoint/2010/main" val="4064464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C9E1B8-A94E-19D3-6317-60B54E4D679D}"/>
              </a:ext>
            </a:extLst>
          </p:cNvPr>
          <p:cNvSpPr>
            <a:spLocks noGrp="1"/>
          </p:cNvSpPr>
          <p:nvPr>
            <p:ph type="title"/>
          </p:nvPr>
        </p:nvSpPr>
        <p:spPr>
          <a:xfrm>
            <a:off x="808638" y="386930"/>
            <a:ext cx="9236700" cy="1188950"/>
          </a:xfrm>
        </p:spPr>
        <p:txBody>
          <a:bodyPr anchor="b">
            <a:normAutofit/>
          </a:bodyPr>
          <a:lstStyle/>
          <a:p>
            <a:r>
              <a:rPr lang="en-US" sz="5400">
                <a:latin typeface="Times New Roman" panose="02020603050405020304" pitchFamily="18" charset="0"/>
                <a:cs typeface="Times New Roman" panose="02020603050405020304" pitchFamily="18" charset="0"/>
              </a:rPr>
              <a:t>Research Methodologies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DF9D474-6BF2-B243-BD1A-145E24EB2790}"/>
              </a:ext>
            </a:extLst>
          </p:cNvPr>
          <p:cNvSpPr>
            <a:spLocks noGrp="1"/>
          </p:cNvSpPr>
          <p:nvPr>
            <p:ph idx="1"/>
          </p:nvPr>
        </p:nvSpPr>
        <p:spPr>
          <a:xfrm>
            <a:off x="793660" y="2599509"/>
            <a:ext cx="10143668" cy="3435531"/>
          </a:xfrm>
        </p:spPr>
        <p:txBody>
          <a:bodyPr anchor="ctr">
            <a:normAutofit/>
          </a:bodyPr>
          <a:lstStyle/>
          <a:p>
            <a:r>
              <a:rPr lang="en-US" sz="2400" dirty="0">
                <a:latin typeface="Times New Roman" panose="02020603050405020304" pitchFamily="18" charset="0"/>
                <a:cs typeface="Times New Roman" panose="02020603050405020304" pitchFamily="18" charset="0"/>
              </a:rPr>
              <a:t>Correlation Analysis</a:t>
            </a:r>
          </a:p>
          <a:p>
            <a:r>
              <a:rPr lang="en-US" sz="2400" dirty="0">
                <a:latin typeface="Times New Roman" panose="02020603050405020304" pitchFamily="18" charset="0"/>
                <a:cs typeface="Times New Roman" panose="02020603050405020304" pitchFamily="18" charset="0"/>
              </a:rPr>
              <a:t>Inferential Analysis</a:t>
            </a:r>
          </a:p>
          <a:p>
            <a:r>
              <a:rPr lang="en-US" sz="2400" dirty="0">
                <a:latin typeface="Times New Roman" panose="02020603050405020304" pitchFamily="18" charset="0"/>
                <a:cs typeface="Times New Roman" panose="02020603050405020304" pitchFamily="18" charset="0"/>
              </a:rPr>
              <a:t>Comparative Analysis</a:t>
            </a:r>
          </a:p>
          <a:p>
            <a:r>
              <a:rPr lang="en-US" sz="2400" dirty="0">
                <a:latin typeface="Times New Roman" panose="02020603050405020304" pitchFamily="18" charset="0"/>
                <a:cs typeface="Times New Roman" panose="02020603050405020304" pitchFamily="18" charset="0"/>
              </a:rPr>
              <a:t>A/B Testing</a:t>
            </a:r>
          </a:p>
          <a:p>
            <a:r>
              <a:rPr lang="en-US" sz="2400" dirty="0">
                <a:latin typeface="Times New Roman" panose="02020603050405020304" pitchFamily="18" charset="0"/>
                <a:cs typeface="Times New Roman" panose="02020603050405020304" pitchFamily="18" charset="0"/>
              </a:rPr>
              <a:t>Simulation Analysis</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5588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A59694-6D2B-7F52-97FF-E5AA0DDA0355}"/>
              </a:ext>
            </a:extLst>
          </p:cNvPr>
          <p:cNvSpPr>
            <a:spLocks noGrp="1"/>
          </p:cNvSpPr>
          <p:nvPr>
            <p:ph type="title"/>
          </p:nvPr>
        </p:nvSpPr>
        <p:spPr>
          <a:xfrm>
            <a:off x="808638" y="386930"/>
            <a:ext cx="9236700" cy="1188950"/>
          </a:xfrm>
        </p:spPr>
        <p:txBody>
          <a:bodyPr anchor="b">
            <a:normAutofit/>
          </a:bodyPr>
          <a:lstStyle/>
          <a:p>
            <a:r>
              <a:rPr lang="en-US" sz="5400">
                <a:latin typeface="Times New Roman" panose="02020603050405020304" pitchFamily="18" charset="0"/>
                <a:cs typeface="Times New Roman" panose="02020603050405020304" pitchFamily="18" charset="0"/>
              </a:rPr>
              <a:t>Data Collection Process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3AF20E3-BDFF-387F-2E66-F021C354A80E}"/>
              </a:ext>
            </a:extLst>
          </p:cNvPr>
          <p:cNvSpPr>
            <a:spLocks noGrp="1"/>
          </p:cNvSpPr>
          <p:nvPr>
            <p:ph idx="1"/>
          </p:nvPr>
        </p:nvSpPr>
        <p:spPr>
          <a:xfrm>
            <a:off x="793660" y="2599509"/>
            <a:ext cx="10143668" cy="3435531"/>
          </a:xfrm>
        </p:spPr>
        <p:txBody>
          <a:bodyPr anchor="ctr">
            <a:normAutofit/>
          </a:bodyPr>
          <a:lstStyle/>
          <a:p>
            <a:pPr>
              <a:buFont typeface="Arial" panose="020B0604020202020204" pitchFamily="34" charset="0"/>
              <a:buChar char="•"/>
            </a:pPr>
            <a:r>
              <a:rPr lang="en-US" sz="2400" b="0" i="0" dirty="0">
                <a:effectLst/>
                <a:highlight>
                  <a:srgbClr val="FFFFFF"/>
                </a:highlight>
                <a:latin typeface="Times New Roman" panose="02020603050405020304" pitchFamily="18" charset="0"/>
                <a:cs typeface="Times New Roman" panose="02020603050405020304" pitchFamily="18" charset="0"/>
              </a:rPr>
              <a:t>Gathered data from government websites including homicide rate, life expectancy, and median household income.</a:t>
            </a:r>
          </a:p>
          <a:p>
            <a:pPr>
              <a:buFont typeface="Arial" panose="020B0604020202020204" pitchFamily="34" charset="0"/>
              <a:buChar char="•"/>
            </a:pPr>
            <a:endParaRPr lang="en-US" sz="2400" b="0" i="0" dirty="0">
              <a:effectLst/>
              <a:highlight>
                <a:srgbClr val="FFFFFF"/>
              </a:highlight>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Obtained homicide and life expectancy data from the CDC’s state-wide statistics page</a:t>
            </a:r>
          </a:p>
          <a:p>
            <a:r>
              <a:rPr lang="en-US" sz="2400" dirty="0">
                <a:latin typeface="Times New Roman" panose="02020603050405020304" pitchFamily="18" charset="0"/>
                <a:cs typeface="Times New Roman" panose="02020603050405020304" pitchFamily="18" charset="0"/>
              </a:rPr>
              <a:t>Used </a:t>
            </a:r>
            <a:r>
              <a:rPr lang="en-US" sz="2400" dirty="0" err="1">
                <a:latin typeface="Times New Roman" panose="02020603050405020304" pitchFamily="18" charset="0"/>
                <a:cs typeface="Times New Roman" panose="02020603050405020304" pitchFamily="18" charset="0"/>
              </a:rPr>
              <a:t>census.gov</a:t>
            </a:r>
            <a:r>
              <a:rPr lang="en-US" sz="2400" dirty="0">
                <a:latin typeface="Times New Roman" panose="02020603050405020304" pitchFamily="18" charset="0"/>
                <a:cs typeface="Times New Roman" panose="02020603050405020304" pitchFamily="18" charset="0"/>
              </a:rPr>
              <a:t> for median household income data from multiple years</a:t>
            </a:r>
          </a:p>
          <a:p>
            <a:pPr lvl="1"/>
            <a:r>
              <a:rPr lang="en-US" dirty="0">
                <a:latin typeface="Times New Roman" panose="02020603050405020304" pitchFamily="18" charset="0"/>
                <a:cs typeface="Times New Roman" panose="02020603050405020304" pitchFamily="18" charset="0"/>
              </a:rPr>
              <a:t>Focused on 2018 for analysis</a:t>
            </a:r>
            <a:br>
              <a:rPr lang="en-US" dirty="0"/>
            </a:br>
            <a:endParaRPr lang="en-US" dirty="0"/>
          </a:p>
          <a:p>
            <a:endParaRPr lang="en-US" sz="2400" dirty="0"/>
          </a:p>
        </p:txBody>
      </p:sp>
    </p:spTree>
    <p:extLst>
      <p:ext uri="{BB962C8B-B14F-4D97-AF65-F5344CB8AC3E}">
        <p14:creationId xmlns:p14="http://schemas.microsoft.com/office/powerpoint/2010/main" val="10647591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ADFD2D-89FC-3B15-D622-73367F471DB5}"/>
              </a:ext>
            </a:extLst>
          </p:cNvPr>
          <p:cNvSpPr>
            <a:spLocks noGrp="1"/>
          </p:cNvSpPr>
          <p:nvPr>
            <p:ph type="title"/>
          </p:nvPr>
        </p:nvSpPr>
        <p:spPr>
          <a:xfrm>
            <a:off x="808638" y="386930"/>
            <a:ext cx="9236700" cy="1188950"/>
          </a:xfrm>
        </p:spPr>
        <p:txBody>
          <a:bodyPr anchor="b">
            <a:normAutofit/>
          </a:bodyPr>
          <a:lstStyle/>
          <a:p>
            <a:r>
              <a:rPr lang="en-US" sz="5400">
                <a:latin typeface="Times New Roman" panose="02020603050405020304" pitchFamily="18" charset="0"/>
                <a:cs typeface="Times New Roman" panose="02020603050405020304" pitchFamily="18" charset="0"/>
              </a:rPr>
              <a:t>Data Preparation</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64484D1-5EDE-890B-F166-92FAB3E48E58}"/>
              </a:ext>
            </a:extLst>
          </p:cNvPr>
          <p:cNvSpPr>
            <a:spLocks noGrp="1"/>
          </p:cNvSpPr>
          <p:nvPr>
            <p:ph idx="1"/>
          </p:nvPr>
        </p:nvSpPr>
        <p:spPr>
          <a:xfrm>
            <a:off x="808638" y="2387431"/>
            <a:ext cx="10143668" cy="3435531"/>
          </a:xfrm>
        </p:spPr>
        <p:txBody>
          <a:bodyPr anchor="ctr">
            <a:normAutofit/>
          </a:bodyPr>
          <a:lstStyle/>
          <a:p>
            <a:r>
              <a:rPr lang="en-US" sz="2400" dirty="0">
                <a:latin typeface="Times New Roman" panose="02020603050405020304" pitchFamily="18" charset="0"/>
                <a:cs typeface="Times New Roman" panose="02020603050405020304" pitchFamily="18" charset="0"/>
              </a:rPr>
              <a:t>Created a spreadsheet to combine and organize data from different sources</a:t>
            </a:r>
          </a:p>
          <a:p>
            <a:r>
              <a:rPr lang="en-US" sz="2400" dirty="0">
                <a:latin typeface="Times New Roman" panose="02020603050405020304" pitchFamily="18" charset="0"/>
                <a:cs typeface="Times New Roman" panose="02020603050405020304" pitchFamily="18" charset="0"/>
              </a:rPr>
              <a:t>Ensure data consistency and accuracy by filtering out irrelevant information</a:t>
            </a:r>
          </a:p>
          <a:p>
            <a:r>
              <a:rPr lang="en-US" sz="2400" dirty="0">
                <a:latin typeface="Times New Roman" panose="02020603050405020304" pitchFamily="18" charset="0"/>
                <a:cs typeface="Times New Roman" panose="02020603050405020304" pitchFamily="18" charset="0"/>
              </a:rPr>
              <a:t>Cleaned the data to retain only rows with valid numerical data</a:t>
            </a:r>
          </a:p>
        </p:txBody>
      </p:sp>
    </p:spTree>
    <p:extLst>
      <p:ext uri="{BB962C8B-B14F-4D97-AF65-F5344CB8AC3E}">
        <p14:creationId xmlns:p14="http://schemas.microsoft.com/office/powerpoint/2010/main" val="10808846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FE80FD-2581-7D5E-7DEF-4525F0003BE3}"/>
              </a:ext>
            </a:extLst>
          </p:cNvPr>
          <p:cNvSpPr>
            <a:spLocks noGrp="1"/>
          </p:cNvSpPr>
          <p:nvPr>
            <p:ph type="title"/>
          </p:nvPr>
        </p:nvSpPr>
        <p:spPr>
          <a:xfrm>
            <a:off x="808638" y="386930"/>
            <a:ext cx="9236700" cy="1188950"/>
          </a:xfrm>
        </p:spPr>
        <p:txBody>
          <a:bodyPr anchor="b">
            <a:normAutofit/>
          </a:bodyPr>
          <a:lstStyle/>
          <a:p>
            <a:r>
              <a:rPr lang="en-US" sz="5400">
                <a:latin typeface="Times New Roman" panose="02020603050405020304" pitchFamily="18" charset="0"/>
                <a:cs typeface="Times New Roman" panose="02020603050405020304" pitchFamily="18" charset="0"/>
              </a:rPr>
              <a:t>Data Cleaning Process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1C145C2-3A5E-18CF-7B65-C1CEBDC30822}"/>
              </a:ext>
            </a:extLst>
          </p:cNvPr>
          <p:cNvSpPr>
            <a:spLocks noGrp="1"/>
          </p:cNvSpPr>
          <p:nvPr>
            <p:ph idx="1"/>
          </p:nvPr>
        </p:nvSpPr>
        <p:spPr>
          <a:xfrm>
            <a:off x="793660" y="2599509"/>
            <a:ext cx="10143668" cy="3435531"/>
          </a:xfrm>
        </p:spPr>
        <p:txBody>
          <a:bodyPr anchor="ctr">
            <a:normAutofit/>
          </a:bodyPr>
          <a:lstStyle/>
          <a:p>
            <a:r>
              <a:rPr lang="en-US" sz="2400" dirty="0">
                <a:latin typeface="Times New Roman" panose="02020603050405020304" pitchFamily="18" charset="0"/>
                <a:cs typeface="Times New Roman" panose="02020603050405020304" pitchFamily="18" charset="0"/>
              </a:rPr>
              <a:t>Manipulated the data to handle missing values (</a:t>
            </a:r>
            <a:r>
              <a:rPr lang="en-US" sz="2400" dirty="0" err="1">
                <a:latin typeface="Times New Roman" panose="02020603050405020304" pitchFamily="18" charset="0"/>
                <a:cs typeface="Times New Roman" panose="02020603050405020304" pitchFamily="18" charset="0"/>
              </a:rPr>
              <a:t>NaN</a:t>
            </a:r>
            <a:r>
              <a:rPr lang="en-US" sz="2400" dirty="0">
                <a:latin typeface="Times New Roman" panose="02020603050405020304" pitchFamily="18" charset="0"/>
                <a:cs typeface="Times New Roman" panose="02020603050405020304" pitchFamily="18" charset="0"/>
              </a:rPr>
              <a:t>) using Python</a:t>
            </a:r>
          </a:p>
          <a:p>
            <a:r>
              <a:rPr lang="en-US" sz="2400" dirty="0">
                <a:latin typeface="Times New Roman" panose="02020603050405020304" pitchFamily="18" charset="0"/>
                <a:cs typeface="Times New Roman" panose="02020603050405020304" pitchFamily="18" charset="0"/>
              </a:rPr>
              <a:t>Utilized the ‘</a:t>
            </a:r>
            <a:r>
              <a:rPr lang="en-US" sz="2400" dirty="0" err="1">
                <a:latin typeface="Times New Roman" panose="02020603050405020304" pitchFamily="18" charset="0"/>
                <a:cs typeface="Times New Roman" panose="02020603050405020304" pitchFamily="18" charset="0"/>
              </a:rPr>
              <a:t>np.isnan</a:t>
            </a:r>
            <a:r>
              <a:rPr lang="en-US" sz="2400" dirty="0">
                <a:latin typeface="Times New Roman" panose="02020603050405020304" pitchFamily="18" charset="0"/>
                <a:cs typeface="Times New Roman" panose="02020603050405020304" pitchFamily="18" charset="0"/>
              </a:rPr>
              <a:t>()’ function to identify </a:t>
            </a:r>
            <a:r>
              <a:rPr lang="en-US" sz="2400" dirty="0" err="1">
                <a:latin typeface="Times New Roman" panose="02020603050405020304" pitchFamily="18" charset="0"/>
                <a:cs typeface="Times New Roman" panose="02020603050405020304" pitchFamily="18" charset="0"/>
              </a:rPr>
              <a:t>NaN</a:t>
            </a:r>
            <a:r>
              <a:rPr lang="en-US" sz="2400" dirty="0">
                <a:latin typeface="Times New Roman" panose="02020603050405020304" pitchFamily="18" charset="0"/>
                <a:cs typeface="Times New Roman" panose="02020603050405020304" pitchFamily="18" charset="0"/>
              </a:rPr>
              <a:t> values</a:t>
            </a:r>
          </a:p>
          <a:p>
            <a:r>
              <a:rPr lang="en-US" sz="2400" dirty="0">
                <a:latin typeface="Times New Roman" panose="02020603050405020304" pitchFamily="18" charset="0"/>
                <a:cs typeface="Times New Roman" panose="02020603050405020304" pitchFamily="18" charset="0"/>
              </a:rPr>
              <a:t>This helped me to filter out rows with missing data, which ensured data integrity for analysis</a:t>
            </a:r>
          </a:p>
        </p:txBody>
      </p:sp>
    </p:spTree>
    <p:extLst>
      <p:ext uri="{BB962C8B-B14F-4D97-AF65-F5344CB8AC3E}">
        <p14:creationId xmlns:p14="http://schemas.microsoft.com/office/powerpoint/2010/main" val="8457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 name="Group 44">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46" name="Rectangle 45">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8" name="Rectangle 47">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5A87D0-6840-E941-1D6F-059C5F753744}"/>
              </a:ext>
            </a:extLst>
          </p:cNvPr>
          <p:cNvSpPr>
            <a:spLocks noGrp="1"/>
          </p:cNvSpPr>
          <p:nvPr>
            <p:ph type="title"/>
          </p:nvPr>
        </p:nvSpPr>
        <p:spPr>
          <a:xfrm>
            <a:off x="1095107" y="628257"/>
            <a:ext cx="5040285" cy="1169585"/>
          </a:xfrm>
        </p:spPr>
        <p:txBody>
          <a:bodyPr vert="horz" lIns="91440" tIns="45720" rIns="91440" bIns="45720" rtlCol="0" anchor="b">
            <a:normAutofit/>
          </a:bodyPr>
          <a:lstStyle/>
          <a:p>
            <a:r>
              <a:rPr lang="en-US" sz="4000" dirty="0">
                <a:latin typeface="Times New Roman" panose="02020603050405020304" pitchFamily="18" charset="0"/>
                <a:cs typeface="Times New Roman" panose="02020603050405020304" pitchFamily="18" charset="0"/>
              </a:rPr>
              <a:t>Data Overview</a:t>
            </a:r>
          </a:p>
        </p:txBody>
      </p:sp>
      <p:sp>
        <p:nvSpPr>
          <p:cNvPr id="49" name="Rectangle 48">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281EB26-6301-1ECA-B7FC-2BF363425B58}"/>
              </a:ext>
            </a:extLst>
          </p:cNvPr>
          <p:cNvSpPr txBox="1"/>
          <p:nvPr/>
        </p:nvSpPr>
        <p:spPr>
          <a:xfrm>
            <a:off x="1055715" y="2508105"/>
            <a:ext cx="5040285" cy="3632493"/>
          </a:xfrm>
          <a:prstGeom prst="rect">
            <a:avLst/>
          </a:prstGeom>
        </p:spPr>
        <p:txBody>
          <a:bodyPr vert="horz" lIns="91440" tIns="45720" rIns="91440" bIns="45720" rtlCol="0" anchor="ctr">
            <a:normAutofit/>
          </a:bodyPr>
          <a:lstStyle/>
          <a:p>
            <a:pPr>
              <a:lnSpc>
                <a:spcPct val="90000"/>
              </a:lnSpc>
              <a:spcAft>
                <a:spcPts val="600"/>
              </a:spcAft>
            </a:pPr>
            <a:endParaRPr lang="en-US" sz="2000" dirty="0"/>
          </a:p>
          <a:p>
            <a:pPr indent="-228600">
              <a:lnSpc>
                <a:spcPct val="90000"/>
              </a:lnSpc>
              <a:spcAft>
                <a:spcPts val="600"/>
              </a:spcAft>
              <a:buFont typeface="Arial" panose="020B0604020202020204" pitchFamily="34" charset="0"/>
              <a:buChar char="•"/>
            </a:pPr>
            <a:endParaRPr lang="en-US" sz="2000" dirty="0"/>
          </a:p>
        </p:txBody>
      </p:sp>
      <p:sp>
        <p:nvSpPr>
          <p:cNvPr id="11" name="TextBox 10">
            <a:extLst>
              <a:ext uri="{FF2B5EF4-FFF2-40B4-BE49-F238E27FC236}">
                <a16:creationId xmlns:a16="http://schemas.microsoft.com/office/drawing/2014/main" id="{4854A423-D0BD-2B66-02C8-35A106500C98}"/>
              </a:ext>
            </a:extLst>
          </p:cNvPr>
          <p:cNvSpPr txBox="1"/>
          <p:nvPr/>
        </p:nvSpPr>
        <p:spPr>
          <a:xfrm>
            <a:off x="1179490" y="5844814"/>
            <a:ext cx="271221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Figure 1</a:t>
            </a:r>
          </a:p>
        </p:txBody>
      </p:sp>
      <p:sp>
        <p:nvSpPr>
          <p:cNvPr id="12" name="TextBox 11">
            <a:extLst>
              <a:ext uri="{FF2B5EF4-FFF2-40B4-BE49-F238E27FC236}">
                <a16:creationId xmlns:a16="http://schemas.microsoft.com/office/drawing/2014/main" id="{08DBC6FE-0023-E798-8332-5A835AF01580}"/>
              </a:ext>
            </a:extLst>
          </p:cNvPr>
          <p:cNvSpPr txBox="1"/>
          <p:nvPr/>
        </p:nvSpPr>
        <p:spPr>
          <a:xfrm>
            <a:off x="7433153" y="5687797"/>
            <a:ext cx="313861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Figure2</a:t>
            </a:r>
          </a:p>
        </p:txBody>
      </p:sp>
      <p:pic>
        <p:nvPicPr>
          <p:cNvPr id="15" name="Picture 14" descr="A table with numbers and names&#10;&#10;Description automatically generated">
            <a:extLst>
              <a:ext uri="{FF2B5EF4-FFF2-40B4-BE49-F238E27FC236}">
                <a16:creationId xmlns:a16="http://schemas.microsoft.com/office/drawing/2014/main" id="{AD203A59-8BBD-739D-3735-BEBBEA4B793F}"/>
              </a:ext>
            </a:extLst>
          </p:cNvPr>
          <p:cNvPicPr>
            <a:picLocks noChangeAspect="1"/>
          </p:cNvPicPr>
          <p:nvPr/>
        </p:nvPicPr>
        <p:blipFill>
          <a:blip r:embed="rId3"/>
          <a:stretch>
            <a:fillRect/>
          </a:stretch>
        </p:blipFill>
        <p:spPr>
          <a:xfrm>
            <a:off x="1270436" y="1850011"/>
            <a:ext cx="5199225" cy="3930515"/>
          </a:xfrm>
          <a:prstGeom prst="rect">
            <a:avLst/>
          </a:prstGeom>
        </p:spPr>
      </p:pic>
      <p:pic>
        <p:nvPicPr>
          <p:cNvPr id="22" name="Content Placeholder 21" descr="A table with numbers and text&#10;&#10;Description automatically generated">
            <a:extLst>
              <a:ext uri="{FF2B5EF4-FFF2-40B4-BE49-F238E27FC236}">
                <a16:creationId xmlns:a16="http://schemas.microsoft.com/office/drawing/2014/main" id="{A311B86B-C620-E020-FC34-8B1C55CB8976}"/>
              </a:ext>
            </a:extLst>
          </p:cNvPr>
          <p:cNvPicPr>
            <a:picLocks noGrp="1" noChangeAspect="1"/>
          </p:cNvPicPr>
          <p:nvPr>
            <p:ph idx="1"/>
          </p:nvPr>
        </p:nvPicPr>
        <p:blipFill>
          <a:blip r:embed="rId4"/>
          <a:stretch>
            <a:fillRect/>
          </a:stretch>
        </p:blipFill>
        <p:spPr>
          <a:xfrm>
            <a:off x="7433153" y="1653026"/>
            <a:ext cx="4102100" cy="4127500"/>
          </a:xfrm>
        </p:spPr>
      </p:pic>
    </p:spTree>
    <p:extLst>
      <p:ext uri="{BB962C8B-B14F-4D97-AF65-F5344CB8AC3E}">
        <p14:creationId xmlns:p14="http://schemas.microsoft.com/office/powerpoint/2010/main" val="35320117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FFAA9B-F1CF-E666-A857-9E4C8D957743}"/>
              </a:ext>
            </a:extLst>
          </p:cNvPr>
          <p:cNvSpPr>
            <a:spLocks noGrp="1"/>
          </p:cNvSpPr>
          <p:nvPr>
            <p:ph type="title"/>
          </p:nvPr>
        </p:nvSpPr>
        <p:spPr>
          <a:xfrm>
            <a:off x="838200" y="365125"/>
            <a:ext cx="10515600" cy="1860400"/>
          </a:xfrm>
        </p:spPr>
        <p:txBody>
          <a:bodyPr vert="horz" lIns="91440" tIns="45720" rIns="91440" bIns="45720" rtlCol="0" anchor="ctr">
            <a:normAutofit/>
          </a:bodyPr>
          <a:lstStyle/>
          <a:p>
            <a:r>
              <a:rPr lang="en-US" sz="5200" kern="1200" dirty="0">
                <a:solidFill>
                  <a:schemeClr val="tx1"/>
                </a:solidFill>
                <a:latin typeface="Times New Roman" panose="02020603050405020304" pitchFamily="18" charset="0"/>
                <a:cs typeface="Times New Roman" panose="02020603050405020304" pitchFamily="18" charset="0"/>
              </a:rPr>
              <a:t>Data Overview</a:t>
            </a:r>
          </a:p>
        </p:txBody>
      </p:sp>
      <p:sp>
        <p:nvSpPr>
          <p:cNvPr id="12" name="TextBox 11">
            <a:extLst>
              <a:ext uri="{FF2B5EF4-FFF2-40B4-BE49-F238E27FC236}">
                <a16:creationId xmlns:a16="http://schemas.microsoft.com/office/drawing/2014/main" id="{5E78290F-548D-468B-4670-0418FC3630BB}"/>
              </a:ext>
            </a:extLst>
          </p:cNvPr>
          <p:cNvSpPr txBox="1"/>
          <p:nvPr/>
        </p:nvSpPr>
        <p:spPr>
          <a:xfrm>
            <a:off x="294260" y="5331228"/>
            <a:ext cx="1855573"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Figure 3</a:t>
            </a:r>
            <a:endParaRPr lang="en-US" dirty="0"/>
          </a:p>
        </p:txBody>
      </p:sp>
      <p:sp>
        <p:nvSpPr>
          <p:cNvPr id="13" name="TextBox 12">
            <a:extLst>
              <a:ext uri="{FF2B5EF4-FFF2-40B4-BE49-F238E27FC236}">
                <a16:creationId xmlns:a16="http://schemas.microsoft.com/office/drawing/2014/main" id="{D468580D-F947-64D8-91E1-30E92A3CDFC4}"/>
              </a:ext>
            </a:extLst>
          </p:cNvPr>
          <p:cNvSpPr txBox="1"/>
          <p:nvPr/>
        </p:nvSpPr>
        <p:spPr>
          <a:xfrm>
            <a:off x="5528179" y="5911296"/>
            <a:ext cx="271436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Figure 4</a:t>
            </a:r>
          </a:p>
        </p:txBody>
      </p:sp>
      <p:pic>
        <p:nvPicPr>
          <p:cNvPr id="32" name="Content Placeholder 31" descr="A graph of life expectancy and a number of people&#10;&#10;Description automatically generated">
            <a:extLst>
              <a:ext uri="{FF2B5EF4-FFF2-40B4-BE49-F238E27FC236}">
                <a16:creationId xmlns:a16="http://schemas.microsoft.com/office/drawing/2014/main" id="{7D94A154-7481-BB15-0F2B-9425DB508406}"/>
              </a:ext>
            </a:extLst>
          </p:cNvPr>
          <p:cNvPicPr>
            <a:picLocks noGrp="1" noChangeAspect="1"/>
          </p:cNvPicPr>
          <p:nvPr>
            <p:ph idx="1"/>
          </p:nvPr>
        </p:nvPicPr>
        <p:blipFill>
          <a:blip r:embed="rId3"/>
          <a:stretch>
            <a:fillRect/>
          </a:stretch>
        </p:blipFill>
        <p:spPr>
          <a:xfrm>
            <a:off x="294260" y="1614287"/>
            <a:ext cx="5022843" cy="3747614"/>
          </a:xfrm>
        </p:spPr>
      </p:pic>
      <p:pic>
        <p:nvPicPr>
          <p:cNvPr id="38" name="Picture 37">
            <a:extLst>
              <a:ext uri="{FF2B5EF4-FFF2-40B4-BE49-F238E27FC236}">
                <a16:creationId xmlns:a16="http://schemas.microsoft.com/office/drawing/2014/main" id="{D4B601C5-5A5A-B011-835D-DBE435B609B1}"/>
              </a:ext>
            </a:extLst>
          </p:cNvPr>
          <p:cNvPicPr>
            <a:picLocks noChangeAspect="1"/>
          </p:cNvPicPr>
          <p:nvPr/>
        </p:nvPicPr>
        <p:blipFill>
          <a:blip r:embed="rId4"/>
          <a:stretch>
            <a:fillRect/>
          </a:stretch>
        </p:blipFill>
        <p:spPr>
          <a:xfrm>
            <a:off x="5528179" y="2524027"/>
            <a:ext cx="6452747" cy="3387269"/>
          </a:xfrm>
          <a:prstGeom prst="rect">
            <a:avLst/>
          </a:prstGeom>
        </p:spPr>
      </p:pic>
    </p:spTree>
    <p:extLst>
      <p:ext uri="{BB962C8B-B14F-4D97-AF65-F5344CB8AC3E}">
        <p14:creationId xmlns:p14="http://schemas.microsoft.com/office/powerpoint/2010/main" val="2831243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D8233B0-41B5-4D9A-AEEC-13DB66A8C9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BC2AAF-89D6-A647-C0F4-22F64074A1E1}"/>
              </a:ext>
            </a:extLst>
          </p:cNvPr>
          <p:cNvSpPr>
            <a:spLocks noGrp="1"/>
          </p:cNvSpPr>
          <p:nvPr>
            <p:ph type="title"/>
          </p:nvPr>
        </p:nvSpPr>
        <p:spPr>
          <a:xfrm>
            <a:off x="808638" y="386930"/>
            <a:ext cx="9236700" cy="1188950"/>
          </a:xfrm>
        </p:spPr>
        <p:txBody>
          <a:bodyPr anchor="b">
            <a:normAutofit/>
          </a:bodyPr>
          <a:lstStyle/>
          <a:p>
            <a:r>
              <a:rPr lang="en-US" sz="5400" dirty="0">
                <a:latin typeface="Times New Roman" panose="02020603050405020304" pitchFamily="18" charset="0"/>
                <a:cs typeface="Times New Roman" panose="02020603050405020304" pitchFamily="18" charset="0"/>
              </a:rPr>
              <a:t>Data Overview</a:t>
            </a:r>
          </a:p>
        </p:txBody>
      </p:sp>
      <p:grpSp>
        <p:nvGrpSpPr>
          <p:cNvPr id="15" name="Group 14">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6" name="Rectangle 15">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graph of a difference between group mean&#10;&#10;Description automatically generated">
            <a:extLst>
              <a:ext uri="{FF2B5EF4-FFF2-40B4-BE49-F238E27FC236}">
                <a16:creationId xmlns:a16="http://schemas.microsoft.com/office/drawing/2014/main" id="{E02C3D10-73D3-42C7-2A9B-D6F00198EBCB}"/>
              </a:ext>
            </a:extLst>
          </p:cNvPr>
          <p:cNvPicPr>
            <a:picLocks noChangeAspect="1"/>
          </p:cNvPicPr>
          <p:nvPr/>
        </p:nvPicPr>
        <p:blipFill>
          <a:blip r:embed="rId3"/>
          <a:stretch>
            <a:fillRect/>
          </a:stretch>
        </p:blipFill>
        <p:spPr>
          <a:xfrm>
            <a:off x="3683823" y="2908050"/>
            <a:ext cx="4322353" cy="2884015"/>
          </a:xfrm>
          <a:prstGeom prst="rect">
            <a:avLst/>
          </a:prstGeom>
        </p:spPr>
      </p:pic>
      <p:sp>
        <p:nvSpPr>
          <p:cNvPr id="6" name="TextBox 5">
            <a:extLst>
              <a:ext uri="{FF2B5EF4-FFF2-40B4-BE49-F238E27FC236}">
                <a16:creationId xmlns:a16="http://schemas.microsoft.com/office/drawing/2014/main" id="{EB9D4C5E-ECA5-01C7-29F5-14C75A9D89C1}"/>
              </a:ext>
            </a:extLst>
          </p:cNvPr>
          <p:cNvSpPr txBox="1"/>
          <p:nvPr/>
        </p:nvSpPr>
        <p:spPr>
          <a:xfrm>
            <a:off x="3683823" y="5792065"/>
            <a:ext cx="2309555" cy="275140"/>
          </a:xfrm>
          <a:prstGeom prst="rect">
            <a:avLst/>
          </a:prstGeom>
          <a:noFill/>
        </p:spPr>
        <p:txBody>
          <a:bodyPr wrap="square" rtlCol="0">
            <a:spAutoFit/>
          </a:bodyPr>
          <a:lstStyle/>
          <a:p>
            <a:pPr defTabSz="603504">
              <a:spcAft>
                <a:spcPts val="600"/>
              </a:spcAft>
            </a:pPr>
            <a:r>
              <a:rPr lang="en-US" sz="1188" kern="1200">
                <a:solidFill>
                  <a:schemeClr val="tx1"/>
                </a:solidFill>
                <a:latin typeface="Times New Roman" panose="02020603050405020304" pitchFamily="18" charset="0"/>
                <a:ea typeface="+mn-ea"/>
                <a:cs typeface="Times New Roman" panose="02020603050405020304" pitchFamily="18" charset="0"/>
              </a:rPr>
              <a:t>Figure 5</a:t>
            </a:r>
            <a:endParaRPr lang="en-US">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66295942-04D9-B5DE-A3F7-A79339D7C5BD}"/>
              </a:ext>
            </a:extLst>
          </p:cNvPr>
          <p:cNvPicPr>
            <a:picLocks noChangeAspect="1"/>
          </p:cNvPicPr>
          <p:nvPr/>
        </p:nvPicPr>
        <p:blipFill>
          <a:blip r:embed="rId4"/>
          <a:stretch>
            <a:fillRect/>
          </a:stretch>
        </p:blipFill>
        <p:spPr>
          <a:xfrm>
            <a:off x="3449983" y="2598710"/>
            <a:ext cx="4790033" cy="3193355"/>
          </a:xfrm>
          <a:prstGeom prst="rect">
            <a:avLst/>
          </a:prstGeom>
        </p:spPr>
      </p:pic>
    </p:spTree>
    <p:extLst>
      <p:ext uri="{BB962C8B-B14F-4D97-AF65-F5344CB8AC3E}">
        <p14:creationId xmlns:p14="http://schemas.microsoft.com/office/powerpoint/2010/main" val="1803352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5" name="Rectangle 24">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Rectangle 28">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23BB5B-FA36-F353-89A5-72EB6B32B066}"/>
              </a:ext>
            </a:extLst>
          </p:cNvPr>
          <p:cNvSpPr>
            <a:spLocks noGrp="1"/>
          </p:cNvSpPr>
          <p:nvPr>
            <p:ph type="title"/>
          </p:nvPr>
        </p:nvSpPr>
        <p:spPr>
          <a:xfrm>
            <a:off x="951916" y="783772"/>
            <a:ext cx="9942716" cy="1554480"/>
          </a:xfrm>
        </p:spPr>
        <p:txBody>
          <a:bodyPr anchor="ctr">
            <a:normAutofit/>
          </a:bodyPr>
          <a:lstStyle/>
          <a:p>
            <a:r>
              <a:rPr lang="en-US" sz="4800" dirty="0">
                <a:latin typeface="Times New Roman" panose="02020603050405020304" pitchFamily="18" charset="0"/>
                <a:cs typeface="Times New Roman" panose="02020603050405020304" pitchFamily="18" charset="0"/>
              </a:rPr>
              <a:t>Hypothesis Testing</a:t>
            </a:r>
          </a:p>
        </p:txBody>
      </p:sp>
      <p:sp>
        <p:nvSpPr>
          <p:cNvPr id="3" name="Content Placeholder 2">
            <a:extLst>
              <a:ext uri="{FF2B5EF4-FFF2-40B4-BE49-F238E27FC236}">
                <a16:creationId xmlns:a16="http://schemas.microsoft.com/office/drawing/2014/main" id="{8594EC81-ADE1-7BDE-44AC-60A7E4759099}"/>
              </a:ext>
            </a:extLst>
          </p:cNvPr>
          <p:cNvSpPr>
            <a:spLocks noGrp="1"/>
          </p:cNvSpPr>
          <p:nvPr>
            <p:ph idx="1"/>
          </p:nvPr>
        </p:nvSpPr>
        <p:spPr>
          <a:xfrm>
            <a:off x="838200" y="3315843"/>
            <a:ext cx="9941319" cy="3124658"/>
          </a:xfrm>
        </p:spPr>
        <p:txBody>
          <a:bodyPr anchor="ctr">
            <a:normAutofit/>
          </a:bodyPr>
          <a:lstStyle/>
          <a:p>
            <a:pPr>
              <a:buFontTx/>
              <a:buChar char="-"/>
            </a:pPr>
            <a:r>
              <a:rPr lang="en-US" sz="1700" dirty="0">
                <a:latin typeface="Times New Roman" panose="02020603050405020304" pitchFamily="18" charset="0"/>
                <a:cs typeface="Times New Roman" panose="02020603050405020304" pitchFamily="18" charset="0"/>
              </a:rPr>
              <a:t>Used a Frequentist approach</a:t>
            </a:r>
          </a:p>
          <a:p>
            <a:pPr>
              <a:buFontTx/>
              <a:buChar char="-"/>
            </a:pPr>
            <a:r>
              <a:rPr lang="en-US" sz="1700" dirty="0">
                <a:latin typeface="Times New Roman" panose="02020603050405020304" pitchFamily="18" charset="0"/>
                <a:cs typeface="Times New Roman" panose="02020603050405020304" pitchFamily="18" charset="0"/>
              </a:rPr>
              <a:t>Question 1:</a:t>
            </a:r>
          </a:p>
          <a:p>
            <a:pPr lvl="1"/>
            <a:r>
              <a:rPr lang="en-US" sz="1700" dirty="0">
                <a:latin typeface="Times New Roman" panose="02020603050405020304" pitchFamily="18" charset="0"/>
                <a:cs typeface="Times New Roman" panose="02020603050405020304" pitchFamily="18" charset="0"/>
              </a:rPr>
              <a:t>Categorized states into two groups based on Median Income</a:t>
            </a:r>
          </a:p>
          <a:p>
            <a:pPr lvl="1"/>
            <a:r>
              <a:rPr lang="en-US" sz="1700" dirty="0">
                <a:latin typeface="Times New Roman" panose="02020603050405020304" pitchFamily="18" charset="0"/>
                <a:cs typeface="Times New Roman" panose="02020603050405020304" pitchFamily="18" charset="0"/>
              </a:rPr>
              <a:t>Gathered a test statistic</a:t>
            </a:r>
          </a:p>
          <a:p>
            <a:pPr lvl="1"/>
            <a:r>
              <a:rPr lang="en-US" sz="1700" dirty="0">
                <a:latin typeface="Times New Roman" panose="02020603050405020304" pitchFamily="18" charset="0"/>
                <a:cs typeface="Times New Roman" panose="02020603050405020304" pitchFamily="18" charset="0"/>
              </a:rPr>
              <a:t>Made a p-value determination using a permutation test and bootstrap test</a:t>
            </a:r>
          </a:p>
          <a:p>
            <a:pPr lvl="1"/>
            <a:endParaRPr lang="en-US" sz="1700" dirty="0">
              <a:latin typeface="Times New Roman" panose="02020603050405020304" pitchFamily="18" charset="0"/>
              <a:cs typeface="Times New Roman" panose="02020603050405020304" pitchFamily="18" charset="0"/>
            </a:endParaRPr>
          </a:p>
          <a:p>
            <a:r>
              <a:rPr lang="en-US" sz="1700" dirty="0">
                <a:latin typeface="Times New Roman" panose="02020603050405020304" pitchFamily="18" charset="0"/>
                <a:cs typeface="Times New Roman" panose="02020603050405020304" pitchFamily="18" charset="0"/>
              </a:rPr>
              <a:t>Question 2:</a:t>
            </a:r>
          </a:p>
          <a:p>
            <a:pPr lvl="1"/>
            <a:r>
              <a:rPr lang="en-US" sz="1700" dirty="0">
                <a:latin typeface="Times New Roman" panose="02020603050405020304" pitchFamily="18" charset="0"/>
                <a:cs typeface="Times New Roman" panose="02020603050405020304" pitchFamily="18" charset="0"/>
              </a:rPr>
              <a:t>Categorized states into two groups based on Homicide rates</a:t>
            </a:r>
          </a:p>
          <a:p>
            <a:pPr lvl="1"/>
            <a:r>
              <a:rPr lang="en-US" sz="1700" dirty="0">
                <a:latin typeface="Times New Roman" panose="02020603050405020304" pitchFamily="18" charset="0"/>
                <a:cs typeface="Times New Roman" panose="02020603050405020304" pitchFamily="18" charset="0"/>
              </a:rPr>
              <a:t>Gathered a test statistic</a:t>
            </a:r>
          </a:p>
          <a:p>
            <a:pPr lvl="1"/>
            <a:r>
              <a:rPr lang="en-US" sz="1700" dirty="0">
                <a:latin typeface="Times New Roman" panose="02020603050405020304" pitchFamily="18" charset="0"/>
                <a:cs typeface="Times New Roman" panose="02020603050405020304" pitchFamily="18" charset="0"/>
              </a:rPr>
              <a:t>Made a p-value determination using the same tests</a:t>
            </a:r>
          </a:p>
          <a:p>
            <a:pPr lvl="1"/>
            <a:endParaRPr lang="en-US" sz="1700" dirty="0"/>
          </a:p>
          <a:p>
            <a:pPr lvl="1"/>
            <a:endParaRPr lang="en-US" sz="1700" dirty="0"/>
          </a:p>
          <a:p>
            <a:pPr lvl="1"/>
            <a:endParaRPr lang="en-US" sz="1700" dirty="0"/>
          </a:p>
          <a:p>
            <a:pPr marL="457200" lvl="1" indent="0">
              <a:buNone/>
            </a:pPr>
            <a:endParaRPr lang="en-US" sz="1700" dirty="0"/>
          </a:p>
          <a:p>
            <a:pPr marL="457200" lvl="1" indent="0">
              <a:buNone/>
            </a:pPr>
            <a:endParaRPr lang="en-US" sz="1700" dirty="0"/>
          </a:p>
        </p:txBody>
      </p:sp>
      <p:cxnSp>
        <p:nvCxnSpPr>
          <p:cNvPr id="31" name="Straight Connector 30">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10292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1E5B0F-2804-9181-0ED6-12BDB49B8797}"/>
              </a:ext>
            </a:extLst>
          </p:cNvPr>
          <p:cNvSpPr>
            <a:spLocks noGrp="1"/>
          </p:cNvSpPr>
          <p:nvPr>
            <p:ph type="title"/>
          </p:nvPr>
        </p:nvSpPr>
        <p:spPr>
          <a:xfrm>
            <a:off x="808638" y="386930"/>
            <a:ext cx="9236700" cy="1188950"/>
          </a:xfrm>
        </p:spPr>
        <p:txBody>
          <a:bodyPr anchor="b">
            <a:normAutofit/>
          </a:bodyPr>
          <a:lstStyle/>
          <a:p>
            <a:r>
              <a:rPr lang="en-US" sz="5400">
                <a:latin typeface="Times New Roman" panose="02020603050405020304" pitchFamily="18" charset="0"/>
                <a:cs typeface="Times New Roman" panose="02020603050405020304" pitchFamily="18" charset="0"/>
              </a:rPr>
              <a:t>Interpretation of the Results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06077EA-1355-0B1B-4C81-1D5C57CFB944}"/>
              </a:ext>
            </a:extLst>
          </p:cNvPr>
          <p:cNvSpPr>
            <a:spLocks noGrp="1"/>
          </p:cNvSpPr>
          <p:nvPr>
            <p:ph idx="1"/>
          </p:nvPr>
        </p:nvSpPr>
        <p:spPr>
          <a:xfrm>
            <a:off x="793660" y="2599509"/>
            <a:ext cx="10143668" cy="3435531"/>
          </a:xfrm>
        </p:spPr>
        <p:txBody>
          <a:bodyPr anchor="ctr">
            <a:normAutofit/>
          </a:bodyPr>
          <a:lstStyle/>
          <a:p>
            <a:r>
              <a:rPr lang="en-US" sz="2000">
                <a:latin typeface="Times New Roman" panose="02020603050405020304" pitchFamily="18" charset="0"/>
                <a:cs typeface="Times New Roman" panose="02020603050405020304" pitchFamily="18" charset="0"/>
              </a:rPr>
              <a:t>Question 1</a:t>
            </a:r>
          </a:p>
          <a:p>
            <a:pPr lvl="1"/>
            <a:r>
              <a:rPr lang="en-US" sz="2000">
                <a:latin typeface="Times New Roman" panose="02020603050405020304" pitchFamily="18" charset="0"/>
                <a:cs typeface="Times New Roman" panose="02020603050405020304" pitchFamily="18" charset="0"/>
              </a:rPr>
              <a:t>P-value: 0.9812</a:t>
            </a:r>
          </a:p>
          <a:p>
            <a:pPr lvl="1"/>
            <a:r>
              <a:rPr lang="en-US" sz="2000">
                <a:latin typeface="Times New Roman" panose="02020603050405020304" pitchFamily="18" charset="0"/>
                <a:cs typeface="Times New Roman" panose="02020603050405020304" pitchFamily="18" charset="0"/>
              </a:rPr>
              <a:t>Failed to reject null hypothesis</a:t>
            </a:r>
          </a:p>
          <a:p>
            <a:pPr lvl="1"/>
            <a:r>
              <a:rPr lang="en-US" sz="2000">
                <a:latin typeface="Times New Roman" panose="02020603050405020304" pitchFamily="18" charset="0"/>
                <a:cs typeface="Times New Roman" panose="02020603050405020304" pitchFamily="18" charset="0"/>
              </a:rPr>
              <a:t>The high p-value suggests that any observed correlation may be due to chance or other unaccounted factors influencing homicide rates</a:t>
            </a:r>
          </a:p>
          <a:p>
            <a:r>
              <a:rPr lang="en-US" sz="2000">
                <a:latin typeface="Times New Roman" panose="02020603050405020304" pitchFamily="18" charset="0"/>
                <a:cs typeface="Times New Roman" panose="02020603050405020304" pitchFamily="18" charset="0"/>
              </a:rPr>
              <a:t>Question 2</a:t>
            </a:r>
          </a:p>
          <a:p>
            <a:pPr lvl="1"/>
            <a:r>
              <a:rPr lang="en-US" sz="2000">
                <a:latin typeface="Times New Roman" panose="02020603050405020304" pitchFamily="18" charset="0"/>
                <a:cs typeface="Times New Roman" panose="02020603050405020304" pitchFamily="18" charset="0"/>
              </a:rPr>
              <a:t>P-value: 0.6564</a:t>
            </a:r>
          </a:p>
          <a:p>
            <a:pPr lvl="1"/>
            <a:r>
              <a:rPr lang="en-US" sz="2000">
                <a:latin typeface="Times New Roman" panose="02020603050405020304" pitchFamily="18" charset="0"/>
                <a:cs typeface="Times New Roman" panose="02020603050405020304" pitchFamily="18" charset="0"/>
              </a:rPr>
              <a:t>Failed to reject null hypothesis</a:t>
            </a:r>
          </a:p>
          <a:p>
            <a:pPr lvl="1"/>
            <a:r>
              <a:rPr lang="en-US" sz="2000">
                <a:latin typeface="Times New Roman" panose="02020603050405020304" pitchFamily="18" charset="0"/>
                <a:cs typeface="Times New Roman" panose="02020603050405020304" pitchFamily="18" charset="0"/>
              </a:rPr>
              <a:t>A p-value of 0.65 suggests that in 65% of simulated trials, observed differences between groups occurred by random chance alone</a:t>
            </a:r>
          </a:p>
        </p:txBody>
      </p:sp>
    </p:spTree>
    <p:extLst>
      <p:ext uri="{BB962C8B-B14F-4D97-AF65-F5344CB8AC3E}">
        <p14:creationId xmlns:p14="http://schemas.microsoft.com/office/powerpoint/2010/main" val="2943622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025211-31E7-DC7B-D2A2-610C92263FAE}"/>
              </a:ext>
            </a:extLst>
          </p:cNvPr>
          <p:cNvSpPr>
            <a:spLocks noGrp="1"/>
          </p:cNvSpPr>
          <p:nvPr>
            <p:ph type="title"/>
          </p:nvPr>
        </p:nvSpPr>
        <p:spPr>
          <a:xfrm>
            <a:off x="808638" y="386930"/>
            <a:ext cx="9236700" cy="1188950"/>
          </a:xfrm>
        </p:spPr>
        <p:txBody>
          <a:bodyPr anchor="b">
            <a:normAutofit/>
          </a:bodyPr>
          <a:lstStyle/>
          <a:p>
            <a:r>
              <a:rPr lang="en-US" sz="5400">
                <a:latin typeface="Times New Roman" panose="02020603050405020304" pitchFamily="18" charset="0"/>
                <a:cs typeface="Times New Roman" panose="02020603050405020304" pitchFamily="18" charset="0"/>
              </a:rPr>
              <a:t>Conclusion</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02C4060-E39C-2A8F-1360-8A37DCBA3240}"/>
              </a:ext>
            </a:extLst>
          </p:cNvPr>
          <p:cNvSpPr>
            <a:spLocks noGrp="1"/>
          </p:cNvSpPr>
          <p:nvPr>
            <p:ph idx="1"/>
          </p:nvPr>
        </p:nvSpPr>
        <p:spPr>
          <a:xfrm>
            <a:off x="793660" y="2599509"/>
            <a:ext cx="10143668" cy="3435531"/>
          </a:xfrm>
        </p:spPr>
        <p:txBody>
          <a:bodyPr anchor="ctr">
            <a:normAutofit/>
          </a:bodyPr>
          <a:lstStyle/>
          <a:p>
            <a:r>
              <a:rPr lang="en-US" sz="2400" dirty="0">
                <a:latin typeface="Times New Roman" panose="02020603050405020304" pitchFamily="18" charset="0"/>
                <a:cs typeface="Times New Roman" panose="02020603050405020304" pitchFamily="18" charset="0"/>
              </a:rPr>
              <a:t>Determined research objectives</a:t>
            </a:r>
          </a:p>
          <a:p>
            <a:r>
              <a:rPr lang="en-US" sz="2400" dirty="0">
                <a:latin typeface="Times New Roman" panose="02020603050405020304" pitchFamily="18" charset="0"/>
                <a:cs typeface="Times New Roman" panose="02020603050405020304" pitchFamily="18" charset="0"/>
              </a:rPr>
              <a:t>Employed statistical </a:t>
            </a:r>
          </a:p>
          <a:p>
            <a:r>
              <a:rPr lang="en-US" sz="2400" dirty="0">
                <a:latin typeface="Times New Roman" panose="02020603050405020304" pitchFamily="18" charset="0"/>
                <a:cs typeface="Times New Roman" panose="02020603050405020304" pitchFamily="18" charset="0"/>
              </a:rPr>
              <a:t>Determined Significance</a:t>
            </a:r>
          </a:p>
          <a:p>
            <a:r>
              <a:rPr lang="en-US" sz="2400" dirty="0">
                <a:latin typeface="Times New Roman" panose="02020603050405020304" pitchFamily="18" charset="0"/>
                <a:cs typeface="Times New Roman" panose="02020603050405020304" pitchFamily="18" charset="0"/>
              </a:rPr>
              <a:t>Found no statistical significance</a:t>
            </a:r>
          </a:p>
          <a:p>
            <a:r>
              <a:rPr lang="en-US" sz="2400" dirty="0">
                <a:latin typeface="Times New Roman" panose="02020603050405020304" pitchFamily="18" charset="0"/>
                <a:cs typeface="Times New Roman" panose="02020603050405020304" pitchFamily="18" charset="0"/>
              </a:rPr>
              <a:t>Failed to reject the null hypothesis which means there is no evidence supporting alternative hypothesis proposed</a:t>
            </a:r>
          </a:p>
          <a:p>
            <a:endParaRPr lang="en-US" sz="2400" dirty="0"/>
          </a:p>
        </p:txBody>
      </p:sp>
    </p:spTree>
    <p:extLst>
      <p:ext uri="{BB962C8B-B14F-4D97-AF65-F5344CB8AC3E}">
        <p14:creationId xmlns:p14="http://schemas.microsoft.com/office/powerpoint/2010/main" val="24848253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A1D6E2-E1AB-AC07-86B4-1201D107177D}"/>
              </a:ext>
            </a:extLst>
          </p:cNvPr>
          <p:cNvSpPr>
            <a:spLocks noGrp="1"/>
          </p:cNvSpPr>
          <p:nvPr>
            <p:ph type="title"/>
          </p:nvPr>
        </p:nvSpPr>
        <p:spPr>
          <a:xfrm>
            <a:off x="808638" y="386930"/>
            <a:ext cx="9236700" cy="1188950"/>
          </a:xfrm>
        </p:spPr>
        <p:txBody>
          <a:bodyPr anchor="b">
            <a:normAutofit/>
          </a:bodyPr>
          <a:lstStyle/>
          <a:p>
            <a:r>
              <a:rPr lang="en-US" sz="5400">
                <a:latin typeface="Times New Roman" panose="02020603050405020304" pitchFamily="18" charset="0"/>
                <a:cs typeface="Times New Roman" panose="02020603050405020304" pitchFamily="18" charset="0"/>
              </a:rPr>
              <a:t>References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2FC4315-4AAA-37DA-EAFC-776070FF7723}"/>
              </a:ext>
            </a:extLst>
          </p:cNvPr>
          <p:cNvSpPr>
            <a:spLocks noGrp="1"/>
          </p:cNvSpPr>
          <p:nvPr>
            <p:ph idx="1"/>
          </p:nvPr>
        </p:nvSpPr>
        <p:spPr>
          <a:xfrm>
            <a:off x="793660" y="2599509"/>
            <a:ext cx="10143668" cy="3435531"/>
          </a:xfrm>
        </p:spPr>
        <p:txBody>
          <a:bodyPr anchor="ctr">
            <a:normAutofit/>
          </a:bodyPr>
          <a:lstStyle/>
          <a:p>
            <a:r>
              <a:rPr lang="en-US" sz="2400" kern="100">
                <a:effectLst/>
                <a:latin typeface="Times New Roman" panose="02020603050405020304" pitchFamily="18" charset="0"/>
                <a:ea typeface="Aptos" panose="020B0004020202020204" pitchFamily="34" charset="0"/>
                <a:cs typeface="Times New Roman" panose="02020603050405020304" pitchFamily="18" charset="0"/>
              </a:rPr>
              <a:t>Centers for Disease Control and Prevention. (2022, March 2). </a:t>
            </a:r>
            <a:r>
              <a:rPr lang="en-US" sz="2400" i="1" kern="100">
                <a:effectLst/>
                <a:latin typeface="Times New Roman" panose="02020603050405020304" pitchFamily="18" charset="0"/>
                <a:ea typeface="Aptos" panose="020B0004020202020204" pitchFamily="34" charset="0"/>
                <a:cs typeface="Times New Roman" panose="02020603050405020304" pitchFamily="18" charset="0"/>
              </a:rPr>
              <a:t>Stats of the States - Homicide Mortality</a:t>
            </a:r>
            <a:r>
              <a:rPr lang="en-US" sz="2400" kern="100">
                <a:effectLst/>
                <a:latin typeface="Times New Roman" panose="02020603050405020304" pitchFamily="18" charset="0"/>
                <a:ea typeface="Aptos" panose="020B0004020202020204" pitchFamily="34" charset="0"/>
                <a:cs typeface="Times New Roman" panose="02020603050405020304" pitchFamily="18" charset="0"/>
              </a:rPr>
              <a:t>. Centers for Disease Control and Prevention. </a:t>
            </a:r>
            <a:r>
              <a:rPr lang="en-US" sz="2400" u="sng" kern="100">
                <a:effectLst/>
                <a:latin typeface="Times New Roman" panose="02020603050405020304" pitchFamily="18" charset="0"/>
                <a:ea typeface="Aptos" panose="020B0004020202020204" pitchFamily="34" charset="0"/>
                <a:cs typeface="Times New Roman" panose="02020603050405020304" pitchFamily="18" charset="0"/>
                <a:hlinkClick r:id="rId3"/>
              </a:rPr>
              <a:t>https://www.cdc.gov/nchs/pressroom/sosmap/homicide_mortality/homicide.htm</a:t>
            </a:r>
            <a:r>
              <a:rPr lang="en-US" sz="2400" kern="100">
                <a:effectLst/>
                <a:latin typeface="Times New Roman" panose="02020603050405020304" pitchFamily="18" charset="0"/>
                <a:ea typeface="Aptos" panose="020B0004020202020204" pitchFamily="34" charset="0"/>
                <a:cs typeface="Times New Roman" panose="02020603050405020304" pitchFamily="18" charset="0"/>
              </a:rPr>
              <a:t> </a:t>
            </a:r>
          </a:p>
          <a:p>
            <a:r>
              <a:rPr lang="en-US" sz="2400" i="1">
                <a:effectLst/>
                <a:latin typeface="Times New Roman" panose="02020603050405020304" pitchFamily="18" charset="0"/>
                <a:ea typeface="Times New Roman" panose="02020603050405020304" pitchFamily="18" charset="0"/>
                <a:cs typeface="Times New Roman" panose="02020603050405020304" pitchFamily="18" charset="0"/>
              </a:rPr>
              <a:t>Table H-8. median household income by State</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 Census.gov. (n.d.). https://www2.census.gov/programs-surveys/cps/tables/time-series/historical-income-households/h08.xls </a:t>
            </a:r>
          </a:p>
          <a:p>
            <a:endParaRPr lang="en-US" sz="2400"/>
          </a:p>
        </p:txBody>
      </p:sp>
    </p:spTree>
    <p:extLst>
      <p:ext uri="{BB962C8B-B14F-4D97-AF65-F5344CB8AC3E}">
        <p14:creationId xmlns:p14="http://schemas.microsoft.com/office/powerpoint/2010/main" val="38700276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1576</TotalTime>
  <Words>3122</Words>
  <Application>Microsoft Macintosh PowerPoint</Application>
  <PresentationFormat>Widescreen</PresentationFormat>
  <Paragraphs>458</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Arial</vt:lpstr>
      <vt:lpstr>Söhne</vt:lpstr>
      <vt:lpstr>Times New Roman</vt:lpstr>
      <vt:lpstr>Office Theme</vt:lpstr>
      <vt:lpstr>Correlation Testing</vt:lpstr>
      <vt:lpstr>Background</vt:lpstr>
      <vt:lpstr>Hypothesis</vt:lpstr>
      <vt:lpstr>Research Methodologies</vt:lpstr>
      <vt:lpstr>Data Collection Process</vt:lpstr>
      <vt:lpstr>Data Preparation</vt:lpstr>
      <vt:lpstr>Data Cleaning Process</vt:lpstr>
      <vt:lpstr>Data Overview</vt:lpstr>
      <vt:lpstr>Data Overview</vt:lpstr>
      <vt:lpstr>Data Overview</vt:lpstr>
      <vt:lpstr>Hypothesis Testing</vt:lpstr>
      <vt:lpstr>Interpretation of the Results</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Correlation Testing</dc:title>
  <dc:creator>Marshall Smith</dc:creator>
  <cp:lastModifiedBy>Marshall Smith</cp:lastModifiedBy>
  <cp:revision>15</cp:revision>
  <dcterms:created xsi:type="dcterms:W3CDTF">2024-04-21T02:05:33Z</dcterms:created>
  <dcterms:modified xsi:type="dcterms:W3CDTF">2026-02-07T20:10:31Z</dcterms:modified>
</cp:coreProperties>
</file>